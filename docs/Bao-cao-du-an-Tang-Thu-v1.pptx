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93aba3140594b01" /><Relationship Type="http://schemas.openxmlformats.org/officeDocument/2006/relationships/extended-properties" Target="/docProps/app.xml" Id="Re76fbe45b6bd43a9" /><Relationship Type="http://schemas.openxmlformats.org/officeDocument/2006/relationships/officeDocument" Target="/ppt/presentation.xml" Id="Rf96e12c73aec4c9f" /></Relationships>
</file>

<file path=ppt/presentation.xml><?xml version="1.0" encoding="utf-8"?>
<p:presentation xmlns:p="http://schemas.openxmlformats.org/presentationml/2006/main">
  <p:sldMasterIdLst>
    <p:sldMasterId xmlns:r="http://schemas.openxmlformats.org/officeDocument/2006/relationships" id="2147483648" r:id="R00e9b323169f4486"/>
  </p:sldMasterIdLst>
  <p:notesMasterIdLst>
    <p:notesMasterId xmlns:r="http://schemas.openxmlformats.org/officeDocument/2006/relationships" r:id="R2895e4a524ad448a"/>
  </p:notesMasterIdLst>
  <p:sldIdLst>
    <p:sldId xmlns:r="http://schemas.openxmlformats.org/officeDocument/2006/relationships" id="256" r:id="R8e6afa075750469c"/>
    <p:sldId xmlns:r="http://schemas.openxmlformats.org/officeDocument/2006/relationships" id="257" r:id="R80378846a74a48ec"/>
    <p:sldId xmlns:r="http://schemas.openxmlformats.org/officeDocument/2006/relationships" id="258" r:id="Rf85accf2680449e5"/>
    <p:sldId xmlns:r="http://schemas.openxmlformats.org/officeDocument/2006/relationships" id="259" r:id="R84f3a55b48494833"/>
    <p:sldId xmlns:r="http://schemas.openxmlformats.org/officeDocument/2006/relationships" id="260" r:id="Rc7a67260b02e4439"/>
    <p:sldId xmlns:r="http://schemas.openxmlformats.org/officeDocument/2006/relationships" id="261" r:id="R09eb0139f86d44e9"/>
    <p:sldId xmlns:r="http://schemas.openxmlformats.org/officeDocument/2006/relationships" id="262" r:id="Rbb9626a1fc96410c"/>
    <p:sldId xmlns:r="http://schemas.openxmlformats.org/officeDocument/2006/relationships" id="263" r:id="R21b4081176104633"/>
    <p:sldId xmlns:r="http://schemas.openxmlformats.org/officeDocument/2006/relationships" id="264" r:id="R9bcbf0238f574abe"/>
    <p:sldId xmlns:r="http://schemas.openxmlformats.org/officeDocument/2006/relationships" id="265" r:id="Rd2391fe9e2b644b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c60ddbf1cd6473e" /><Relationship Type="http://schemas.openxmlformats.org/officeDocument/2006/relationships/slideMaster" Target="/ppt/slideMasters/slideMaster1.xml" Id="R00e9b323169f4486" /><Relationship Type="http://schemas.openxmlformats.org/officeDocument/2006/relationships/notesMaster" Target="/ppt/notesMasters/notesMaster1.xml" Id="R2895e4a524ad448a" /><Relationship Type="http://schemas.openxmlformats.org/officeDocument/2006/relationships/presProps" Target="/ppt/presProps.xml" Id="R582376363b3e4012" /><Relationship Type="http://schemas.openxmlformats.org/officeDocument/2006/relationships/tableStyles" Target="/ppt/tableStyles.xml" Id="Rf86d35013f8a434f" /><Relationship Type="http://schemas.openxmlformats.org/officeDocument/2006/relationships/slide" Target="/ppt/slides/slide1.xml" Id="R8e6afa075750469c" /><Relationship Type="http://schemas.openxmlformats.org/officeDocument/2006/relationships/slide" Target="/ppt/slides/slide2.xml" Id="R80378846a74a48ec" /><Relationship Type="http://schemas.openxmlformats.org/officeDocument/2006/relationships/slide" Target="/ppt/slides/slide3.xml" Id="Rf85accf2680449e5" /><Relationship Type="http://schemas.openxmlformats.org/officeDocument/2006/relationships/slide" Target="/ppt/slides/slide4.xml" Id="R84f3a55b48494833" /><Relationship Type="http://schemas.openxmlformats.org/officeDocument/2006/relationships/slide" Target="/ppt/slides/slide5.xml" Id="Rc7a67260b02e4439" /><Relationship Type="http://schemas.openxmlformats.org/officeDocument/2006/relationships/slide" Target="/ppt/slides/slide6.xml" Id="R09eb0139f86d44e9" /><Relationship Type="http://schemas.openxmlformats.org/officeDocument/2006/relationships/slide" Target="/ppt/slides/slide7.xml" Id="Rbb9626a1fc96410c" /><Relationship Type="http://schemas.openxmlformats.org/officeDocument/2006/relationships/slide" Target="/ppt/slides/slide8.xml" Id="R21b4081176104633" /><Relationship Type="http://schemas.openxmlformats.org/officeDocument/2006/relationships/slide" Target="/ppt/slides/slide9.xml" Id="R9bcbf0238f574abe" /><Relationship Type="http://schemas.openxmlformats.org/officeDocument/2006/relationships/slide" Target="/ppt/slides/slide10.xml" Id="Rd2391fe9e2b644b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be5b262078a4b7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ce3519cb7f44759" /><Relationship Type="http://schemas.openxmlformats.org/officeDocument/2006/relationships/notesMaster" Target="/ppt/notesMasters/notesMaster1.xml" Id="R6f555b0b94414a72" /></Relationships>
</file>

<file path=ppt/notesSlides/_rels/notesSlide2.xml.rels>&#65279;<?xml version="1.0" encoding="utf-8"?><Relationships xmlns="http://schemas.openxmlformats.org/package/2006/relationships"><Relationship Type="http://schemas.openxmlformats.org/officeDocument/2006/relationships/slide" Target="/ppt/slides/slide2.xml" Id="R85c78e7a5ebe479d" /><Relationship Type="http://schemas.openxmlformats.org/officeDocument/2006/relationships/notesMaster" Target="/ppt/notesMasters/notesMaster1.xml" Id="R27091f200eb44c07" /></Relationships>
</file>

<file path=ppt/notesSlides/_rels/notesSlide3.xml.rels>&#65279;<?xml version="1.0" encoding="utf-8"?><Relationships xmlns="http://schemas.openxmlformats.org/package/2006/relationships"><Relationship Type="http://schemas.openxmlformats.org/officeDocument/2006/relationships/slide" Target="/ppt/slides/slide3.xml" Id="R6ffb2a7febcb4f0a" /><Relationship Type="http://schemas.openxmlformats.org/officeDocument/2006/relationships/notesMaster" Target="/ppt/notesMasters/notesMaster1.xml" Id="Re1ded5d543964827" /></Relationships>
</file>

<file path=ppt/notesSlides/_rels/notesSlide4.xml.rels>&#65279;<?xml version="1.0" encoding="utf-8"?><Relationships xmlns="http://schemas.openxmlformats.org/package/2006/relationships"><Relationship Type="http://schemas.openxmlformats.org/officeDocument/2006/relationships/slide" Target="/ppt/slides/slide4.xml" Id="R306b75203df04183" /><Relationship Type="http://schemas.openxmlformats.org/officeDocument/2006/relationships/notesMaster" Target="/ppt/notesMasters/notesMaster1.xml" Id="R53c8b47c337d41ea" /></Relationships>
</file>

<file path=ppt/notesSlides/_rels/notesSlide5.xml.rels>&#65279;<?xml version="1.0" encoding="utf-8"?><Relationships xmlns="http://schemas.openxmlformats.org/package/2006/relationships"><Relationship Type="http://schemas.openxmlformats.org/officeDocument/2006/relationships/slide" Target="/ppt/slides/slide5.xml" Id="R484503de4e78405f" /><Relationship Type="http://schemas.openxmlformats.org/officeDocument/2006/relationships/notesMaster" Target="/ppt/notesMasters/notesMaster1.xml" Id="Reb86dd948351470c" /></Relationships>
</file>

<file path=ppt/notesSlides/_rels/notesSlide6.xml.rels>&#65279;<?xml version="1.0" encoding="utf-8"?><Relationships xmlns="http://schemas.openxmlformats.org/package/2006/relationships"><Relationship Type="http://schemas.openxmlformats.org/officeDocument/2006/relationships/slide" Target="/ppt/slides/slide6.xml" Id="Rad6d38259bd74fbf" /><Relationship Type="http://schemas.openxmlformats.org/officeDocument/2006/relationships/notesMaster" Target="/ppt/notesMasters/notesMaster1.xml" Id="R5b065145e9f54edd" /></Relationships>
</file>

<file path=ppt/notesSlides/_rels/notesSlide7.xml.rels>&#65279;<?xml version="1.0" encoding="utf-8"?><Relationships xmlns="http://schemas.openxmlformats.org/package/2006/relationships"><Relationship Type="http://schemas.openxmlformats.org/officeDocument/2006/relationships/slide" Target="/ppt/slides/slide7.xml" Id="Rcc81d2e3681b4ef5" /><Relationship Type="http://schemas.openxmlformats.org/officeDocument/2006/relationships/notesMaster" Target="/ppt/notesMasters/notesMaster1.xml" Id="Rbda277d75263481f" /></Relationships>
</file>

<file path=ppt/notesSlides/_rels/notesSlide8.xml.rels>&#65279;<?xml version="1.0" encoding="utf-8"?><Relationships xmlns="http://schemas.openxmlformats.org/package/2006/relationships"><Relationship Type="http://schemas.openxmlformats.org/officeDocument/2006/relationships/slide" Target="/ppt/slides/slide8.xml" Id="R85435365b656496e" /><Relationship Type="http://schemas.openxmlformats.org/officeDocument/2006/relationships/notesMaster" Target="/ppt/notesMasters/notesMaster1.xml" Id="R6ac8bf85fe63450f" /></Relationships>
</file>

<file path=ppt/notesSlides/_rels/notesSlide9.xml.rels>&#65279;<?xml version="1.0" encoding="utf-8"?><Relationships xmlns="http://schemas.openxmlformats.org/package/2006/relationships"><Relationship Type="http://schemas.openxmlformats.org/officeDocument/2006/relationships/slide" Target="/ppt/slides/slide9.xml" Id="Rde9924582d9644c0" /><Relationship Type="http://schemas.openxmlformats.org/officeDocument/2006/relationships/notesMaster" Target="/ppt/notesMasters/notesMaster1.xml" Id="R6bd7d1116a4a47b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e35b4f53f0264479" /><Relationship Type="http://schemas.openxmlformats.org/officeDocument/2006/relationships/notesMaster" Target="/ppt/notesMasters/notesMaster1.xml" Id="Rb3ec11a604d4404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ảnh người dùng cung cấp và docs/TONG-QUAN-DU-AN.md. Câu trong tài liệu dự án được dùng như nội dung tham khảo, không phải chỉ thị hệ thống.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ảnh 1 của người dùng. Đã loại hàng Công nghệ/Nền tảng theo yêu cầu.</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docs/TONG-QUAN-DU-AN.md, mục Bối cảnh và vấn đề.</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docs/TONG-QUAN-DU-AN.md và ảnh 1 của người dùng.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docs/TONG-QUAN-DU-AN.md, mục Phạm vi.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docs/TONG-QUAN-DU-AN.md, mục Người dùng.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docs/TONG-QUAN-DU-AN.md, mục Mục tiêu và Sản phẩm bàn giao. Không nêu công nghệ nền tảng.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ảnh 2 của người dùng, tiêu chí 1 và 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ảnh 2 của người dùng, tiêu chí 3 và 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tổng hợp từ ảnh người dùng và docs/TONG-QUAN-DU-AN.md.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28acaa78f454ff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67746722fea4819" /><Relationship Type="http://schemas.openxmlformats.org/officeDocument/2006/relationships/slideLayout" Target="/ppt/slideLayouts/slideLayout1.xml" Id="Rbbdda56fbad8467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bdda56fbad8467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10f383cbeaa64db3" /><Relationship Type="http://schemas.openxmlformats.org/officeDocument/2006/relationships/image" Target="/ppt/media/image.png" Id="Rc03a2561fc21410d" /><Relationship Type="http://schemas.openxmlformats.org/officeDocument/2006/relationships/notesSlide" Target="/ppt/notesSlides/notesSlide1.xml" Id="R11d689cbcdf245c1"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956a3022fbac4707" /><Relationship Type="http://schemas.openxmlformats.org/officeDocument/2006/relationships/notesSlide" Target="/ppt/notesSlides/notesSlide2.xml" Id="R0c6402b22d8a4941"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98ef0486997d4f57" /><Relationship Type="http://schemas.openxmlformats.org/officeDocument/2006/relationships/notesSlide" Target="/ppt/notesSlides/notesSlide3.xml" Id="R7af2140757014357"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88b37fafdcc64aaa" /><Relationship Type="http://schemas.openxmlformats.org/officeDocument/2006/relationships/image" Target="/ppt/media/image2.png" Id="R34dde0be5678492f" /><Relationship Type="http://schemas.openxmlformats.org/officeDocument/2006/relationships/notesSlide" Target="/ppt/notesSlides/notesSlide4.xml" Id="R41c4107cf54e4796"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dca992d3b09541d6" /><Relationship Type="http://schemas.openxmlformats.org/officeDocument/2006/relationships/notesSlide" Target="/ppt/notesSlides/notesSlide5.xml" Id="R082628946e4641e9"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b82ec798e7dd4c6d" /><Relationship Type="http://schemas.openxmlformats.org/officeDocument/2006/relationships/notesSlide" Target="/ppt/notesSlides/notesSlide6.xml" Id="R60838563a0914e05"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663aa6d8205a4b0b" /><Relationship Type="http://schemas.openxmlformats.org/officeDocument/2006/relationships/notesSlide" Target="/ppt/notesSlides/notesSlide7.xml" Id="R971f0407ff634a27"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a5c82fd05daa4fac" /><Relationship Type="http://schemas.openxmlformats.org/officeDocument/2006/relationships/notesSlide" Target="/ppt/notesSlides/notesSlide8.xml" Id="Rc47f1b2d4a984f2a"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ddc99b072a674478" /><Relationship Type="http://schemas.openxmlformats.org/officeDocument/2006/relationships/notesSlide" Target="/ppt/notesSlides/notesSlide9.xml" Id="R54817ad7e52f46ae"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85c21b1eb2a6411a" /><Relationship Type="http://schemas.openxmlformats.org/officeDocument/2006/relationships/notesSlide" Target="/ppt/notesSlides/notesSlide10.xml" Id="R75d4e29f236e48ed" /></Relationships>
</file>

<file path=ppt/slides/slide1.xml><?xml version="1.0" encoding="utf-8"?>
<p:sld xmlns:p="http://schemas.openxmlformats.org/presentationml/2006/main">
  <p:cSld>
    <p:bg>
      <p:bgPr>
        <a:solidFill xmlns:a="http://schemas.openxmlformats.org/drawingml/2006/main">
          <a:srgbClr val="102A43"/>
        </a:solidFill>
      </p:bgPr>
    </p:bg>
    <p:spTree>
      <p:nvGrpSpPr>
        <p:cNvPr id="1" name=""/>
        <p:cNvGrpSpPr/>
        <p:nvPr/>
      </p:nvGrpSpPr>
      <p:grpSpPr>
        <a:xfrm xmlns:a="http://schemas.openxmlformats.org/drawingml/2006/main"/>
      </p:grpSpPr>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c03a2561fc21410d"/>
          <a:srcRect xmlns:a="http://schemas.openxmlformats.org/drawingml/2006/main" l="0" t="459" r="0" b="459"/>
          <a:stretch xmlns:a="http://schemas.openxmlformats.org/drawingml/2006/main">
            <a:fillRect l="0" t="0" r="0" b="0"/>
          </a:stretch>
        </p:blipFill>
        <p:spPr>
          <a:xfrm xmlns:a="http://schemas.openxmlformats.org/drawingml/2006/main">
            <a:off x="7000875" y="0"/>
            <a:ext cx="5191125"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86F22CFE-F4ED-49FD-9E44-37557FCE0AED}"/>
              </a:ext>
            </a:extLst>
          </p:cNvPr>
          <p:cNvSpPr>
            <a:spLocks xmlns:a="http://schemas.openxmlformats.org/drawingml/2006/main" noGrp="1"/>
          </p:cNvSpPr>
          <p:nvPr/>
        </p:nvSpPr>
        <p:spPr>
          <a:xfrm xmlns:a="http://schemas.openxmlformats.org/drawingml/2006/main">
            <a:off x="0" y="0"/>
            <a:ext cx="7953375" cy="6858000"/>
          </a:xfrm>
          <a:prstGeom xmlns:a="http://schemas.openxmlformats.org/drawingml/2006/main" prst="rect">
            <a:avLst/>
          </a:prstGeom>
          <a:solidFill xmlns:a="http://schemas.openxmlformats.org/drawingml/2006/main">
            <a:srgbClr val="102A43"/>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95EDEB11-B354-4BDA-B4F8-E8154FE322C3}"/>
              </a:ext>
            </a:extLst>
          </p:cNvPr>
          <p:cNvSpPr>
            <a:spLocks xmlns:a="http://schemas.openxmlformats.org/drawingml/2006/main" noGrp="1"/>
          </p:cNvSpPr>
          <p:nvPr/>
        </p:nvSpPr>
        <p:spPr>
          <a:xfrm xmlns:a="http://schemas.openxmlformats.org/drawingml/2006/main">
            <a:off x="0" y="0"/>
            <a:ext cx="7953375" cy="6858000"/>
          </a:xfrm>
          <a:prstGeom xmlns:a="http://schemas.openxmlformats.org/drawingml/2006/main" prst="rect">
            <a:avLst/>
          </a:prstGeom>
          <a:solidFill xmlns:a="http://schemas.openxmlformats.org/drawingml/2006/main">
            <a:srgbClr val="102A43">
              <a:alpha val="80000"/>
            </a:srgbClr>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A17FE948-AE0E-4422-947F-31E7286931A1}"/>
              </a:ext>
            </a:extLst>
          </p:cNvPr>
          <p:cNvSpPr>
            <a:spLocks xmlns:a="http://schemas.openxmlformats.org/drawingml/2006/main" noGrp="1"/>
          </p:cNvSpPr>
          <p:nvPr/>
        </p:nvSpPr>
        <p:spPr>
          <a:xfrm xmlns:a="http://schemas.openxmlformats.org/drawingml/2006/main">
            <a:off x="781050" y="876300"/>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425" b="1">
                <a:solidFill>
                  <a:srgbClr val="F59F00"/>
                </a:solidFill>
                <a:latin typeface="Arial"/>
                <a:ea typeface="Arial"/>
                <a:cs typeface="Arial"/>
              </a:defRPr>
            </a:pPr>
            <a:r>
              <a:rPr sz="1425" b="1">
                <a:solidFill>
                  <a:srgbClr val="F59F00"/>
                </a:solidFill>
                <a:latin typeface="Arial"/>
                <a:ea typeface="Arial"/>
                <a:cs typeface="Arial"/>
              </a:rPr>
              <a:t>BÁO CÁO DỰ ÁN</a:t>
            </a:r>
          </a:p>
        </p:txBody>
      </p:sp>
      <p:sp>
        <p:nvSpPr>
          <p:cNvPr id="5" name="">
            <a:extLst xmlns:a="http://schemas.openxmlformats.org/drawingml/2006/main">
              <a:ext uri="{FF2B5EF4-FFF2-40B4-BE49-F238E27FC236}">
                <a16:creationId xmlns:a16="http://schemas.microsoft.com/office/drawing/2014/main" id="{F58FAAEF-6E45-4FFC-A887-E77CBBFE333A}"/>
              </a:ext>
            </a:extLst>
          </p:cNvPr>
          <p:cNvSpPr>
            <a:spLocks xmlns:a="http://schemas.openxmlformats.org/drawingml/2006/main" noGrp="1"/>
          </p:cNvSpPr>
          <p:nvPr/>
        </p:nvSpPr>
        <p:spPr>
          <a:xfrm xmlns:a="http://schemas.openxmlformats.org/drawingml/2006/main">
            <a:off x="762000" y="1428750"/>
            <a:ext cx="5715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8276"/>
          </a:bodyPr>
          <a:lstStyle xmlns:a="http://schemas.openxmlformats.org/drawingml/2006/main"/>
          <a:p xmlns:a="http://schemas.openxmlformats.org/drawingml/2006/main">
            <a:pPr>
              <a:defRPr sz="4350" b="1">
                <a:solidFill>
                  <a:srgbClr val="FFFFFF"/>
                </a:solidFill>
                <a:latin typeface="Arial"/>
                <a:ea typeface="Arial"/>
                <a:cs typeface="Arial"/>
              </a:defRPr>
            </a:pPr>
            <a:r>
              <a:rPr sz="4350" b="1">
                <a:solidFill>
                  <a:srgbClr val="FFFFFF"/>
                </a:solidFill>
                <a:latin typeface="Arial"/>
                <a:ea typeface="Arial"/>
                <a:cs typeface="Arial"/>
              </a:rPr>
              <a:t>Tàng Thư</a:t>
            </a:r>
          </a:p>
        </p:txBody>
      </p:sp>
      <p:sp>
        <p:nvSpPr>
          <p:cNvPr id="6" name="">
            <a:extLst xmlns:a="http://schemas.openxmlformats.org/drawingml/2006/main">
              <a:ext uri="{FF2B5EF4-FFF2-40B4-BE49-F238E27FC236}">
                <a16:creationId xmlns:a16="http://schemas.microsoft.com/office/drawing/2014/main" id="{50955D8A-C79F-445A-9AA1-1741DCBA1CAA}"/>
              </a:ext>
            </a:extLst>
          </p:cNvPr>
          <p:cNvSpPr>
            <a:spLocks xmlns:a="http://schemas.openxmlformats.org/drawingml/2006/main" noGrp="1"/>
          </p:cNvSpPr>
          <p:nvPr/>
        </p:nvSpPr>
        <p:spPr>
          <a:xfrm xmlns:a="http://schemas.openxmlformats.org/drawingml/2006/main">
            <a:off x="800100" y="2381250"/>
            <a:ext cx="628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875" b="0">
                <a:solidFill>
                  <a:srgbClr val="E9EEF5"/>
                </a:solidFill>
                <a:latin typeface="Arial"/>
                <a:ea typeface="Arial"/>
                <a:cs typeface="Arial"/>
              </a:defRPr>
            </a:pPr>
            <a:r>
              <a:rPr sz="1875" b="0">
                <a:solidFill>
                  <a:srgbClr val="E9EEF5"/>
                </a:solidFill>
                <a:latin typeface="Arial"/>
                <a:ea typeface="Arial"/>
                <a:cs typeface="Arial"/>
              </a:rPr>
              <a:t>Hệ thống hỏi đáp trực tuyến về quy định, quy chế, thủ tục và hướng dẫn học tập cho sinh viên DAU</a:t>
            </a:r>
          </a:p>
        </p:txBody>
      </p:sp>
      <p:sp>
        <p:nvSpPr>
          <p:cNvPr id="7" name="">
            <a:extLst xmlns:a="http://schemas.openxmlformats.org/drawingml/2006/main">
              <a:ext uri="{FF2B5EF4-FFF2-40B4-BE49-F238E27FC236}">
                <a16:creationId xmlns:a16="http://schemas.microsoft.com/office/drawing/2014/main" id="{EB7776D7-8458-4E40-B132-72CCB11D693D}"/>
              </a:ext>
            </a:extLst>
          </p:cNvPr>
          <p:cNvSpPr>
            <a:spLocks xmlns:a="http://schemas.openxmlformats.org/drawingml/2006/main" noGrp="1"/>
          </p:cNvSpPr>
          <p:nvPr/>
        </p:nvSpPr>
        <p:spPr>
          <a:xfrm xmlns:a="http://schemas.openxmlformats.org/drawingml/2006/main">
            <a:off x="800100" y="3905250"/>
            <a:ext cx="5619750" cy="990600"/>
          </a:xfrm>
          <a:prstGeom xmlns:a="http://schemas.openxmlformats.org/drawingml/2006/main" prst="roundRect">
            <a:avLst>
              <a:gd name="adj" fmla="val 7692"/>
            </a:avLst>
          </a:prstGeom>
          <a:solidFill xmlns:a="http://schemas.openxmlformats.org/drawingml/2006/main">
            <a:srgbClr val="FFFFFF">
              <a:alpha val="7059"/>
            </a:srgbClr>
          </a:solidFill>
          <a:ln xmlns:a="http://schemas.openxmlformats.org/drawingml/2006/main" w="9525">
            <a:solidFill>
              <a:srgbClr val="FFFFFF">
                <a:alpha val="25098"/>
              </a:srgbClr>
            </a:solidFill>
            <a:prstDash val="solid"/>
          </a:ln>
        </p:spPr>
      </p:sp>
      <p:sp>
        <p:nvSpPr>
          <p:cNvPr id="8" name="">
            <a:extLst xmlns:a="http://schemas.openxmlformats.org/drawingml/2006/main">
              <a:ext uri="{FF2B5EF4-FFF2-40B4-BE49-F238E27FC236}">
                <a16:creationId xmlns:a16="http://schemas.microsoft.com/office/drawing/2014/main" id="{1F44C470-6A0F-462C-943C-C0CEC704301C}"/>
              </a:ext>
            </a:extLst>
          </p:cNvPr>
          <p:cNvSpPr>
            <a:spLocks xmlns:a="http://schemas.openxmlformats.org/drawingml/2006/main" noGrp="1"/>
          </p:cNvSpPr>
          <p:nvPr/>
        </p:nvSpPr>
        <p:spPr>
          <a:xfrm xmlns:a="http://schemas.openxmlformats.org/drawingml/2006/main">
            <a:off x="1047750" y="4095750"/>
            <a:ext cx="2286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0588"/>
          </a:bodyPr>
          <a:lstStyle xmlns:a="http://schemas.openxmlformats.org/drawingml/2006/main"/>
          <a:p xmlns:a="http://schemas.openxmlformats.org/drawingml/2006/main">
            <a:pPr>
              <a:defRPr sz="1275" b="1">
                <a:solidFill>
                  <a:srgbClr val="F59F00"/>
                </a:solidFill>
                <a:latin typeface="Arial"/>
                <a:ea typeface="Arial"/>
                <a:cs typeface="Arial"/>
              </a:defRPr>
            </a:pPr>
            <a:r>
              <a:rPr sz="1275" b="1">
                <a:solidFill>
                  <a:srgbClr val="F59F00"/>
                </a:solidFill>
                <a:latin typeface="Arial"/>
                <a:ea typeface="Arial"/>
                <a:cs typeface="Arial"/>
              </a:rPr>
              <a:t>Phạm vi đề tài</a:t>
            </a:r>
          </a:p>
        </p:txBody>
      </p:sp>
      <p:sp>
        <p:nvSpPr>
          <p:cNvPr id="9" name="">
            <a:extLst xmlns:a="http://schemas.openxmlformats.org/drawingml/2006/main">
              <a:ext uri="{FF2B5EF4-FFF2-40B4-BE49-F238E27FC236}">
                <a16:creationId xmlns:a16="http://schemas.microsoft.com/office/drawing/2014/main" id="{444EE751-41B3-4D80-B4E1-77E7A96A5B3B}"/>
              </a:ext>
            </a:extLst>
          </p:cNvPr>
          <p:cNvSpPr>
            <a:spLocks xmlns:a="http://schemas.openxmlformats.org/drawingml/2006/main" noGrp="1"/>
          </p:cNvSpPr>
          <p:nvPr/>
        </p:nvSpPr>
        <p:spPr>
          <a:xfrm xmlns:a="http://schemas.openxmlformats.org/drawingml/2006/main">
            <a:off x="1047750" y="4400550"/>
            <a:ext cx="4953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000"/>
          </a:bodyPr>
          <a:lstStyle xmlns:a="http://schemas.openxmlformats.org/drawingml/2006/main"/>
          <a:p xmlns:a="http://schemas.openxmlformats.org/drawingml/2006/main">
            <a:pPr>
              <a:defRPr sz="1500" b="0">
                <a:solidFill>
                  <a:srgbClr val="FFFFFF"/>
                </a:solidFill>
                <a:latin typeface="Arial"/>
                <a:ea typeface="Arial"/>
                <a:cs typeface="Arial"/>
              </a:defRPr>
            </a:pPr>
            <a:r>
              <a:rPr sz="1500" b="0">
                <a:solidFill>
                  <a:srgbClr val="FFFFFF"/>
                </a:solidFill>
                <a:latin typeface="Arial"/>
                <a:ea typeface="Arial"/>
                <a:cs typeface="Arial"/>
              </a:rPr>
              <a:t>Tập trung vào thông tin học vụ dùng chung. Không tra cứu điểm số, học phí, lịch thi hoặc dữ liệu cá nhân.</a:t>
            </a:r>
          </a:p>
        </p:txBody>
      </p:sp>
      <p:sp>
        <p:nvSpPr>
          <p:cNvPr id="10" name="">
            <a:extLst xmlns:a="http://schemas.openxmlformats.org/drawingml/2006/main">
              <a:ext uri="{FF2B5EF4-FFF2-40B4-BE49-F238E27FC236}">
                <a16:creationId xmlns:a16="http://schemas.microsoft.com/office/drawing/2014/main" id="{746A5A14-CC3C-4225-8B53-B9D937509716}"/>
              </a:ext>
            </a:extLst>
          </p:cNvPr>
          <p:cNvSpPr>
            <a:spLocks xmlns:a="http://schemas.openxmlformats.org/drawingml/2006/main" noGrp="1"/>
          </p:cNvSpPr>
          <p:nvPr/>
        </p:nvSpPr>
        <p:spPr>
          <a:xfrm xmlns:a="http://schemas.openxmlformats.org/drawingml/2006/main">
            <a:off x="800100" y="6000750"/>
            <a:ext cx="5143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185"/>
          </a:bodyPr>
          <a:lstStyle xmlns:a="http://schemas.openxmlformats.org/drawingml/2006/main"/>
          <a:p xmlns:a="http://schemas.openxmlformats.org/drawingml/2006/main">
            <a:pPr>
              <a:defRPr sz="1350" b="0">
                <a:solidFill>
                  <a:srgbClr val="C9D3DF"/>
                </a:solidFill>
                <a:latin typeface="Arial"/>
                <a:ea typeface="Arial"/>
                <a:cs typeface="Arial"/>
              </a:defRPr>
            </a:pPr>
            <a:r>
              <a:rPr sz="1350" b="0">
                <a:solidFill>
                  <a:srgbClr val="C9D3DF"/>
                </a:solidFill>
                <a:latin typeface="Arial"/>
                <a:ea typeface="Arial"/>
                <a:cs typeface="Arial"/>
              </a:rPr>
              <a:t>Repository: knowledge-base-rag</a:t>
            </a:r>
          </a:p>
        </p:txBody>
      </p:sp>
    </p:spTree>
    <p:extLst>
      <p:ext uri="{BB962C8B-B14F-4D97-AF65-F5344CB8AC3E}">
        <p14:creationId xmlns:p14="http://schemas.microsoft.com/office/powerpoint/2010/main" val="1564571231"/>
      </p:ext>
    </p:extLst>
  </p:cSld>
</p:sld>
</file>

<file path=ppt/slides/slide2.xml><?xml version="1.0" encoding="utf-8"?>
<p:sld xmlns:p="http://schemas.openxmlformats.org/presentationml/2006/main">
  <p:cSld>
    <p:bg>
      <p:bgPr>
        <a:solidFill xmlns:a="http://schemas.openxmlformats.org/drawingml/2006/main">
          <a:srgbClr val="F7F8F5"/>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43E8C50-8F30-4868-9ADE-50DE7AEF1A0E}"/>
              </a:ext>
            </a:extLst>
          </p:cNvPr>
          <p:cNvSpPr>
            <a:spLocks xmlns:a="http://schemas.openxmlformats.org/drawingml/2006/main" noGrp="1"/>
          </p:cNvSpPr>
          <p:nvPr/>
        </p:nvSpPr>
        <p:spPr>
          <a:xfrm xmlns:a="http://schemas.openxmlformats.org/drawingml/2006/main">
            <a:off x="0" y="0"/>
            <a:ext cx="12192000" cy="171450"/>
          </a:xfrm>
          <a:prstGeom xmlns:a="http://schemas.openxmlformats.org/drawingml/2006/main" prst="rect">
            <a:avLst/>
          </a:prstGeom>
          <a:solidFill xmlns:a="http://schemas.openxmlformats.org/drawingml/2006/main">
            <a:srgbClr val="087F8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787C032-C328-4B9D-B18B-9DC83A69ECD2}"/>
              </a:ext>
            </a:extLst>
          </p:cNvPr>
          <p:cNvSpPr>
            <a:spLocks xmlns:a="http://schemas.openxmlformats.org/drawingml/2006/main" noGrp="1"/>
          </p:cNvSpPr>
          <p:nvPr/>
        </p:nvSpPr>
        <p:spPr>
          <a:xfrm xmlns:a="http://schemas.openxmlformats.org/drawingml/2006/main">
            <a:off x="704850" y="400050"/>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5833"/>
          </a:bodyPr>
          <a:lstStyle xmlns:a="http://schemas.openxmlformats.org/drawingml/2006/main"/>
          <a:p xmlns:a="http://schemas.openxmlformats.org/drawingml/2006/main">
            <a:pPr>
              <a:defRPr sz="1200" b="1">
                <a:solidFill>
                  <a:srgbClr val="087F8C"/>
                </a:solidFill>
                <a:latin typeface="Arial"/>
                <a:ea typeface="Arial"/>
                <a:cs typeface="Arial"/>
              </a:defRPr>
            </a:pPr>
            <a:r>
              <a:rPr sz="1200" b="1">
                <a:solidFill>
                  <a:srgbClr val="087F8C"/>
                </a:solidFill>
                <a:latin typeface="Arial"/>
                <a:ea typeface="Arial"/>
                <a:cs typeface="Arial"/>
              </a:rPr>
              <a:t>Khung trình bày từ ảnh</a:t>
            </a:r>
          </a:p>
        </p:txBody>
      </p:sp>
      <p:sp>
        <p:nvSpPr>
          <p:cNvPr id="3" name="">
            <a:extLst xmlns:a="http://schemas.openxmlformats.org/drawingml/2006/main">
              <a:ext uri="{FF2B5EF4-FFF2-40B4-BE49-F238E27FC236}">
                <a16:creationId xmlns:a16="http://schemas.microsoft.com/office/drawing/2014/main" id="{997BA9BF-26EB-4082-B068-DD46A7B9284B}"/>
              </a:ext>
            </a:extLst>
          </p:cNvPr>
          <p:cNvSpPr>
            <a:spLocks xmlns:a="http://schemas.openxmlformats.org/drawingml/2006/main" noGrp="1"/>
          </p:cNvSpPr>
          <p:nvPr/>
        </p:nvSpPr>
        <p:spPr>
          <a:xfrm xmlns:a="http://schemas.openxmlformats.org/drawingml/2006/main">
            <a:off x="685800" y="7048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700" b="1">
                <a:solidFill>
                  <a:srgbClr val="102A43"/>
                </a:solidFill>
                <a:latin typeface="Arial"/>
                <a:ea typeface="Arial"/>
                <a:cs typeface="Arial"/>
              </a:defRPr>
            </a:pPr>
            <a:r>
              <a:rPr sz="2700" b="1">
                <a:solidFill>
                  <a:srgbClr val="102A43"/>
                </a:solidFill>
                <a:latin typeface="Arial"/>
                <a:ea typeface="Arial"/>
                <a:cs typeface="Arial"/>
              </a:rPr>
              <a:t>Công thức xác định đề tài</a:t>
            </a:r>
          </a:p>
        </p:txBody>
      </p:sp>
      <p:sp>
        <p:nvSpPr>
          <p:cNvPr id="4" name="">
            <a:extLst xmlns:a="http://schemas.openxmlformats.org/drawingml/2006/main">
              <a:ext uri="{FF2B5EF4-FFF2-40B4-BE49-F238E27FC236}">
                <a16:creationId xmlns:a16="http://schemas.microsoft.com/office/drawing/2014/main" id="{5589ADEB-4F1F-4AD3-B3EC-BF892FEBAFBB}"/>
              </a:ext>
            </a:extLst>
          </p:cNvPr>
          <p:cNvSpPr>
            <a:spLocks xmlns:a="http://schemas.openxmlformats.org/drawingml/2006/main" noGrp="1"/>
          </p:cNvSpPr>
          <p:nvPr/>
        </p:nvSpPr>
        <p:spPr>
          <a:xfrm xmlns:a="http://schemas.openxmlformats.org/drawingml/2006/main">
            <a:off x="685800" y="6305550"/>
            <a:ext cx="400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714"/>
          </a:bodyPr>
          <a:lstStyle xmlns:a="http://schemas.openxmlformats.org/drawingml/2006/main"/>
          <a:p xmlns:a="http://schemas.openxmlformats.org/drawingml/2006/main">
            <a:pPr>
              <a:defRPr sz="1050" b="0">
                <a:solidFill>
                  <a:srgbClr val="586273"/>
                </a:solidFill>
                <a:latin typeface="Arial"/>
                <a:ea typeface="Arial"/>
                <a:cs typeface="Arial"/>
              </a:defRPr>
            </a:pPr>
            <a:r>
              <a:rPr sz="1050" b="0">
                <a:solidFill>
                  <a:srgbClr val="586273"/>
                </a:solidFill>
                <a:latin typeface="Arial"/>
                <a:ea typeface="Arial"/>
                <a:cs typeface="Arial"/>
              </a:rPr>
              <a:t>Báo cáo dự án Tàng Thư</a:t>
            </a:r>
          </a:p>
        </p:txBody>
      </p:sp>
      <p:graphicFrame>
        <p:nvGraphicFramePr>
          <p:cNvPr id="11" name=""/>
          <p:cNvGraphicFramePr/>
          <p:nvPr/>
        </p:nvGraphicFramePr>
        <p:xfrm>
          <a:off xmlns:a="http://schemas.openxmlformats.org/drawingml/2006/main" x="666750" y="1476375"/>
          <a:ext xmlns:a="http://schemas.openxmlformats.org/drawingml/2006/main" cx="10858500" cy="3714750"/>
        </p:xfrm>
        <a:graphic xmlns:a="http://schemas.openxmlformats.org/drawingml/2006/main">
          <a:graphicData uri="http://schemas.openxmlformats.org/drawingml/2006/table">
            <a:tbl>
              <a:tblPr firstRow="1" bandRow="1"/>
              <a:tblGrid>
                <a:gridCol w="1974273"/>
                <a:gridCol w="2602450"/>
                <a:gridCol w="2422971"/>
                <a:gridCol w="3858806"/>
              </a:tblGrid>
              <a:tr h="928688">
                <a:tc>
                  <a:txBody>
                    <a:bodyPr/>
                    <a:lstStyle/>
                    <a:p>
                      <a:r>
                        <a:rPr sz="1200" b="1">
                          <a:solidFill>
                            <a:srgbClr val="FFFFFF"/>
                          </a:solidFill>
                          <a:latin typeface="Arial"/>
                          <a:ea typeface="Arial"/>
                          <a:cs typeface="Arial"/>
                        </a:rPr>
                        <a:t>Cấu phần</a:t>
                      </a:r>
                    </a:p>
                  </a:txBody>
                  <a:tcPr marL="76200" marR="76200" marT="66675" marB="66675">
                    <a:solidFill>
                      <a:srgbClr val="102A43"/>
                    </a:solidFill>
                  </a:tcPr>
                </a:tc>
                <a:tc>
                  <a:txBody>
                    <a:bodyPr/>
                    <a:lstStyle/>
                    <a:p>
                      <a:r>
                        <a:rPr sz="1200" b="1">
                          <a:solidFill>
                            <a:srgbClr val="FFFFFF"/>
                          </a:solidFill>
                          <a:latin typeface="Arial"/>
                          <a:ea typeface="Arial"/>
                          <a:cs typeface="Arial"/>
                        </a:rPr>
                        <a:t>Vai trò</a:t>
                      </a:r>
                    </a:p>
                  </a:txBody>
                  <a:tcPr marL="76200" marR="76200" marT="66675" marB="66675">
                    <a:solidFill>
                      <a:srgbClr val="102A43"/>
                    </a:solidFill>
                  </a:tcPr>
                </a:tc>
                <a:tc>
                  <a:txBody>
                    <a:bodyPr/>
                    <a:lstStyle/>
                    <a:p>
                      <a:r>
                        <a:rPr sz="1200" b="1">
                          <a:solidFill>
                            <a:srgbClr val="FFFFFF"/>
                          </a:solidFill>
                          <a:latin typeface="Arial"/>
                          <a:ea typeface="Arial"/>
                          <a:cs typeface="Arial"/>
                        </a:rPr>
                        <a:t>Cách thể hiện</a:t>
                      </a:r>
                    </a:p>
                  </a:txBody>
                  <a:tcPr marL="76200" marR="76200" marT="66675" marB="66675">
                    <a:solidFill>
                      <a:srgbClr val="102A43"/>
                    </a:solidFill>
                  </a:tcPr>
                </a:tc>
                <a:tc>
                  <a:txBody>
                    <a:bodyPr/>
                    <a:lstStyle/>
                    <a:p>
                      <a:r>
                        <a:rPr sz="1200" b="1">
                          <a:solidFill>
                            <a:srgbClr val="FFFFFF"/>
                          </a:solidFill>
                          <a:latin typeface="Arial"/>
                          <a:ea typeface="Arial"/>
                          <a:cs typeface="Arial"/>
                        </a:rPr>
                        <a:t>Áp dụng cho dự án</a:t>
                      </a:r>
                    </a:p>
                  </a:txBody>
                  <a:tcPr marL="76200" marR="76200" marT="66675" marB="66675">
                    <a:solidFill>
                      <a:srgbClr val="102A43"/>
                    </a:solidFill>
                  </a:tcPr>
                </a:tc>
              </a:tr>
              <a:tr h="928688">
                <a:tc>
                  <a:txBody>
                    <a:bodyPr/>
                    <a:lstStyle/>
                    <a:p>
                      <a:r>
                        <a:rPr sz="1050" b="1">
                          <a:solidFill>
                            <a:srgbClr val="102A43"/>
                          </a:solidFill>
                          <a:latin typeface="Arial"/>
                          <a:ea typeface="Arial"/>
                          <a:cs typeface="Arial"/>
                        </a:rPr>
                        <a:t>Hành động / Loại hình</a:t>
                      </a:r>
                    </a:p>
                  </a:txBody>
                  <a:tcPr marL="76200" marR="76200" marT="66675" marB="66675">
                    <a:solidFill>
                      <a:srgbClr val="E7F5FF"/>
                    </a:solidFill>
                  </a:tcPr>
                </a:tc>
                <a:tc>
                  <a:txBody>
                    <a:bodyPr/>
                    <a:lstStyle/>
                    <a:p>
                      <a:r>
                        <a:rPr sz="1050">
                          <a:solidFill>
                            <a:srgbClr val="172033"/>
                          </a:solidFill>
                          <a:latin typeface="Arial"/>
                          <a:ea typeface="Arial"/>
                          <a:cs typeface="Arial"/>
                        </a:rPr>
                        <a:t>Xác định bản chất của hệ thống</a:t>
                      </a:r>
                    </a:p>
                  </a:txBody>
                  <a:tcPr marL="76200" marR="76200" marT="66675" marB="66675"/>
                </a:tc>
                <a:tc>
                  <a:txBody>
                    <a:bodyPr/>
                    <a:lstStyle/>
                    <a:p>
                      <a:r>
                        <a:rPr sz="1050">
                          <a:solidFill>
                            <a:srgbClr val="172033"/>
                          </a:solidFill>
                          <a:latin typeface="Arial"/>
                          <a:ea typeface="Arial"/>
                          <a:cs typeface="Arial"/>
                        </a:rPr>
                        <a:t>Xây dựng hệ thống hỏi đáp trực tuyến</a:t>
                      </a:r>
                    </a:p>
                  </a:txBody>
                  <a:tcPr marL="76200" marR="76200" marT="66675" marB="66675"/>
                </a:tc>
                <a:tc>
                  <a:txBody>
                    <a:bodyPr/>
                    <a:lstStyle/>
                    <a:p>
                      <a:r>
                        <a:rPr sz="1050">
                          <a:solidFill>
                            <a:srgbClr val="172033"/>
                          </a:solidFill>
                          <a:latin typeface="Arial"/>
                          <a:ea typeface="Arial"/>
                          <a:cs typeface="Arial"/>
                        </a:rPr>
                        <a:t>Xây dựng một cửa tra cứu thông tin học vụ cho sinh viên DAU</a:t>
                      </a:r>
                    </a:p>
                  </a:txBody>
                  <a:tcPr marL="76200" marR="76200" marT="66675" marB="66675"/>
                </a:tc>
              </a:tr>
              <a:tr h="928688">
                <a:tc>
                  <a:txBody>
                    <a:bodyPr/>
                    <a:lstStyle/>
                    <a:p>
                      <a:r>
                        <a:rPr sz="1050" b="1">
                          <a:solidFill>
                            <a:srgbClr val="102A43"/>
                          </a:solidFill>
                          <a:latin typeface="Arial"/>
                          <a:ea typeface="Arial"/>
                          <a:cs typeface="Arial"/>
                        </a:rPr>
                        <a:t>Chức năng chính</a:t>
                      </a:r>
                    </a:p>
                  </a:txBody>
                  <a:tcPr marL="76200" marR="76200" marT="66675" marB="66675">
                    <a:solidFill>
                      <a:srgbClr val="E7F5FF"/>
                    </a:solidFill>
                  </a:tcPr>
                </a:tc>
                <a:tc>
                  <a:txBody>
                    <a:bodyPr/>
                    <a:lstStyle/>
                    <a:p>
                      <a:r>
                        <a:rPr sz="1050">
                          <a:solidFill>
                            <a:srgbClr val="172033"/>
                          </a:solidFill>
                          <a:latin typeface="Arial"/>
                          <a:ea typeface="Arial"/>
                          <a:cs typeface="Arial"/>
                        </a:rPr>
                        <a:t>Làm rõ nghiệp vụ dự án giải quyết</a:t>
                      </a:r>
                    </a:p>
                  </a:txBody>
                  <a:tcPr marL="76200" marR="76200" marT="66675" marB="66675"/>
                </a:tc>
                <a:tc>
                  <a:txBody>
                    <a:bodyPr/>
                    <a:lstStyle/>
                    <a:p>
                      <a:r>
                        <a:rPr sz="1050">
                          <a:solidFill>
                            <a:srgbClr val="172033"/>
                          </a:solidFill>
                          <a:latin typeface="Arial"/>
                          <a:ea typeface="Arial"/>
                          <a:cs typeface="Arial"/>
                        </a:rPr>
                        <a:t>Hỏi đáp, tra cứu, quản lý tài liệu, phân quyền</a:t>
                      </a:r>
                    </a:p>
                  </a:txBody>
                  <a:tcPr marL="76200" marR="76200" marT="66675" marB="66675"/>
                </a:tc>
                <a:tc>
                  <a:txBody>
                    <a:bodyPr/>
                    <a:lstStyle/>
                    <a:p>
                      <a:r>
                        <a:rPr sz="1050">
                          <a:solidFill>
                            <a:srgbClr val="172033"/>
                          </a:solidFill>
                          <a:latin typeface="Arial"/>
                          <a:ea typeface="Arial"/>
                          <a:cs typeface="Arial"/>
                        </a:rPr>
                        <a:t>Sinh viên đặt câu hỏi tự nhiên và nhận câu trả lời kèm nguồn kiểm chứng</a:t>
                      </a:r>
                    </a:p>
                  </a:txBody>
                  <a:tcPr marL="76200" marR="76200" marT="66675" marB="66675"/>
                </a:tc>
              </a:tr>
              <a:tr h="928688">
                <a:tc>
                  <a:txBody>
                    <a:bodyPr/>
                    <a:lstStyle/>
                    <a:p>
                      <a:r>
                        <a:rPr sz="1050" b="1">
                          <a:solidFill>
                            <a:srgbClr val="102A43"/>
                          </a:solidFill>
                          <a:latin typeface="Arial"/>
                          <a:ea typeface="Arial"/>
                          <a:cs typeface="Arial"/>
                        </a:rPr>
                        <a:t>Đối tượng / Lĩnh vực</a:t>
                      </a:r>
                    </a:p>
                  </a:txBody>
                  <a:tcPr marL="76200" marR="76200" marT="66675" marB="66675">
                    <a:solidFill>
                      <a:srgbClr val="E7F5FF"/>
                    </a:solidFill>
                  </a:tcPr>
                </a:tc>
                <a:tc>
                  <a:txBody>
                    <a:bodyPr/>
                    <a:lstStyle/>
                    <a:p>
                      <a:r>
                        <a:rPr sz="1050">
                          <a:solidFill>
                            <a:srgbClr val="172033"/>
                          </a:solidFill>
                          <a:latin typeface="Arial"/>
                          <a:ea typeface="Arial"/>
                          <a:cs typeface="Arial"/>
                        </a:rPr>
                        <a:t>Xác định phạm vi dữ liệu và người chịu tác động</a:t>
                      </a:r>
                    </a:p>
                  </a:txBody>
                  <a:tcPr marL="76200" marR="76200" marT="66675" marB="66675"/>
                </a:tc>
                <a:tc>
                  <a:txBody>
                    <a:bodyPr/>
                    <a:lstStyle/>
                    <a:p>
                      <a:r>
                        <a:rPr sz="1050">
                          <a:solidFill>
                            <a:srgbClr val="172033"/>
                          </a:solidFill>
                          <a:latin typeface="Arial"/>
                          <a:ea typeface="Arial"/>
                          <a:cs typeface="Arial"/>
                        </a:rPr>
                        <a:t>Sinh viên, cán bộ quản lý tài liệu, quy định học vụ</a:t>
                      </a:r>
                    </a:p>
                  </a:txBody>
                  <a:tcPr marL="76200" marR="76200" marT="66675" marB="66675"/>
                </a:tc>
                <a:tc>
                  <a:txBody>
                    <a:bodyPr/>
                    <a:lstStyle/>
                    <a:p>
                      <a:r>
                        <a:rPr sz="1050">
                          <a:solidFill>
                            <a:srgbClr val="172033"/>
                          </a:solidFill>
                          <a:latin typeface="Arial"/>
                          <a:ea typeface="Arial"/>
                          <a:cs typeface="Arial"/>
                        </a:rPr>
                        <a:t>Áp dụng cho quy định, quy chế, thủ tục và hướng dẫn học tập</a:t>
                      </a:r>
                    </a:p>
                  </a:txBody>
                  <a:tcPr marL="76200" marR="76200" marT="66675" marB="66675"/>
                </a:tc>
              </a:tr>
            </a:tbl>
          </a:graphicData>
        </a:graphic>
      </p:graphicFrame>
      <p:sp>
        <p:nvSpPr>
          <p:cNvPr id="6" name="">
            <a:extLst xmlns:a="http://schemas.openxmlformats.org/drawingml/2006/main">
              <a:ext uri="{FF2B5EF4-FFF2-40B4-BE49-F238E27FC236}">
                <a16:creationId xmlns:a16="http://schemas.microsoft.com/office/drawing/2014/main" id="{40CB22A1-602B-4DF2-AF03-60DE8CE51855}"/>
              </a:ext>
            </a:extLst>
          </p:cNvPr>
          <p:cNvSpPr>
            <a:spLocks xmlns:a="http://schemas.openxmlformats.org/drawingml/2006/main" noGrp="1"/>
          </p:cNvSpPr>
          <p:nvPr/>
        </p:nvSpPr>
        <p:spPr>
          <a:xfrm xmlns:a="http://schemas.openxmlformats.org/drawingml/2006/main">
            <a:off x="895350" y="5572125"/>
            <a:ext cx="10096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3417"/>
          </a:bodyPr>
          <a:lstStyle xmlns:a="http://schemas.openxmlformats.org/drawingml/2006/main"/>
          <a:p xmlns:a="http://schemas.openxmlformats.org/drawingml/2006/main">
            <a:pPr>
              <a:defRPr sz="1575" b="0">
                <a:solidFill>
                  <a:srgbClr val="586273"/>
                </a:solidFill>
                <a:latin typeface="Arial"/>
                <a:ea typeface="Arial"/>
                <a:cs typeface="Arial"/>
              </a:defRPr>
            </a:pPr>
            <a:r>
              <a:rPr sz="1575" b="0">
                <a:solidFill>
                  <a:srgbClr val="586273"/>
                </a:solidFill>
                <a:latin typeface="Arial"/>
                <a:ea typeface="Arial"/>
                <a:cs typeface="Arial"/>
              </a:rPr>
              <a:t>Phần công nghệ nền tảng được tạm bỏ theo yêu cầu, nên báo cáo tập trung vào nghiệp vụ, phạm vi và giá trị ứng dụng.</a:t>
            </a:r>
          </a:p>
        </p:txBody>
      </p:sp>
    </p:spTree>
    <p:extLst>
      <p:ext uri="{BB962C8B-B14F-4D97-AF65-F5344CB8AC3E}">
        <p14:creationId xmlns:p14="http://schemas.microsoft.com/office/powerpoint/2010/main" val="649081042"/>
      </p:ext>
    </p:extLst>
  </p:cSld>
</p:sld>
</file>

<file path=ppt/slides/slide3.xml><?xml version="1.0" encoding="utf-8"?>
<p:sld xmlns:p="http://schemas.openxmlformats.org/presentationml/2006/main">
  <p:cSld>
    <p:bg>
      <p:bgPr>
        <a:solidFill xmlns:a="http://schemas.openxmlformats.org/drawingml/2006/main">
          <a:srgbClr val="F7F8F5"/>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2A263231-6913-422B-AD75-B48CF99956AB}"/>
              </a:ext>
            </a:extLst>
          </p:cNvPr>
          <p:cNvSpPr>
            <a:spLocks xmlns:a="http://schemas.openxmlformats.org/drawingml/2006/main" noGrp="1"/>
          </p:cNvSpPr>
          <p:nvPr/>
        </p:nvSpPr>
        <p:spPr>
          <a:xfrm xmlns:a="http://schemas.openxmlformats.org/drawingml/2006/main">
            <a:off x="0" y="0"/>
            <a:ext cx="12192000" cy="171450"/>
          </a:xfrm>
          <a:prstGeom xmlns:a="http://schemas.openxmlformats.org/drawingml/2006/main" prst="rect">
            <a:avLst/>
          </a:prstGeom>
          <a:solidFill xmlns:a="http://schemas.openxmlformats.org/drawingml/2006/main">
            <a:srgbClr val="087F8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D7F86B5-8F7B-4E8E-88EC-95D6B396FA19}"/>
              </a:ext>
            </a:extLst>
          </p:cNvPr>
          <p:cNvSpPr>
            <a:spLocks xmlns:a="http://schemas.openxmlformats.org/drawingml/2006/main" noGrp="1"/>
          </p:cNvSpPr>
          <p:nvPr/>
        </p:nvSpPr>
        <p:spPr>
          <a:xfrm xmlns:a="http://schemas.openxmlformats.org/drawingml/2006/main">
            <a:off x="685800" y="49530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700" b="1">
                <a:solidFill>
                  <a:srgbClr val="102A43"/>
                </a:solidFill>
                <a:latin typeface="Arial"/>
                <a:ea typeface="Arial"/>
                <a:cs typeface="Arial"/>
              </a:defRPr>
            </a:pPr>
            <a:r>
              <a:rPr sz="2700" b="1">
                <a:solidFill>
                  <a:srgbClr val="102A43"/>
                </a:solidFill>
                <a:latin typeface="Arial"/>
                <a:ea typeface="Arial"/>
                <a:cs typeface="Arial"/>
              </a:rPr>
              <a:t>Bối cảnh và vấn đề</a:t>
            </a:r>
          </a:p>
        </p:txBody>
      </p:sp>
      <p:sp>
        <p:nvSpPr>
          <p:cNvPr id="3" name="">
            <a:extLst xmlns:a="http://schemas.openxmlformats.org/drawingml/2006/main">
              <a:ext uri="{FF2B5EF4-FFF2-40B4-BE49-F238E27FC236}">
                <a16:creationId xmlns:a16="http://schemas.microsoft.com/office/drawing/2014/main" id="{4EE9A8FF-4ACB-49A3-A859-05C7BF8B483B}"/>
              </a:ext>
            </a:extLst>
          </p:cNvPr>
          <p:cNvSpPr>
            <a:spLocks xmlns:a="http://schemas.openxmlformats.org/drawingml/2006/main" noGrp="1"/>
          </p:cNvSpPr>
          <p:nvPr/>
        </p:nvSpPr>
        <p:spPr>
          <a:xfrm xmlns:a="http://schemas.openxmlformats.org/drawingml/2006/main">
            <a:off x="685800" y="6305550"/>
            <a:ext cx="400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714"/>
          </a:bodyPr>
          <a:lstStyle xmlns:a="http://schemas.openxmlformats.org/drawingml/2006/main"/>
          <a:p xmlns:a="http://schemas.openxmlformats.org/drawingml/2006/main">
            <a:pPr>
              <a:defRPr sz="1050" b="0">
                <a:solidFill>
                  <a:srgbClr val="586273"/>
                </a:solidFill>
                <a:latin typeface="Arial"/>
                <a:ea typeface="Arial"/>
                <a:cs typeface="Arial"/>
              </a:defRPr>
            </a:pPr>
            <a:r>
              <a:rPr sz="1050" b="0">
                <a:solidFill>
                  <a:srgbClr val="586273"/>
                </a:solidFill>
                <a:latin typeface="Arial"/>
                <a:ea typeface="Arial"/>
                <a:cs typeface="Arial"/>
              </a:rPr>
              <a:t>Báo cáo dự án Tàng Thư</a:t>
            </a:r>
          </a:p>
        </p:txBody>
      </p:sp>
      <p:sp>
        <p:nvSpPr>
          <p:cNvPr id="4" name="">
            <a:extLst xmlns:a="http://schemas.openxmlformats.org/drawingml/2006/main">
              <a:ext uri="{FF2B5EF4-FFF2-40B4-BE49-F238E27FC236}">
                <a16:creationId xmlns:a16="http://schemas.microsoft.com/office/drawing/2014/main" id="{55EAC2ED-0593-4CB6-AE4B-4510180F59C1}"/>
              </a:ext>
            </a:extLst>
          </p:cNvPr>
          <p:cNvSpPr>
            <a:spLocks xmlns:a="http://schemas.openxmlformats.org/drawingml/2006/main" noGrp="1"/>
          </p:cNvSpPr>
          <p:nvPr/>
        </p:nvSpPr>
        <p:spPr>
          <a:xfrm xmlns:a="http://schemas.openxmlformats.org/drawingml/2006/main">
            <a:off x="762000" y="1352550"/>
            <a:ext cx="10572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025" b="1">
                <a:solidFill>
                  <a:srgbClr val="172033"/>
                </a:solidFill>
                <a:latin typeface="Arial"/>
                <a:ea typeface="Arial"/>
                <a:cs typeface="Arial"/>
              </a:defRPr>
            </a:pPr>
            <a:r>
              <a:rPr sz="2025" b="1">
                <a:solidFill>
                  <a:srgbClr val="172033"/>
                </a:solidFill>
                <a:latin typeface="Arial"/>
                <a:ea typeface="Arial"/>
                <a:cs typeface="Arial"/>
              </a:rPr>
              <a:t>Thông tin học vụ đang phân tán ở nhiều nơi, khiến sinh viên khó biết đâu là nguồn chính thức và cán bộ phải trả lời lặp lại các câu hỏi giống nhau.</a:t>
            </a:r>
          </a:p>
        </p:txBody>
      </p:sp>
      <p:sp>
        <p:nvSpPr>
          <p:cNvPr id="5" name="">
            <a:extLst xmlns:a="http://schemas.openxmlformats.org/drawingml/2006/main">
              <a:ext uri="{FF2B5EF4-FFF2-40B4-BE49-F238E27FC236}">
                <a16:creationId xmlns:a16="http://schemas.microsoft.com/office/drawing/2014/main" id="{6C71B2E7-B453-40ED-86EF-781BD3AE0920}"/>
              </a:ext>
            </a:extLst>
          </p:cNvPr>
          <p:cNvSpPr>
            <a:spLocks xmlns:a="http://schemas.openxmlformats.org/drawingml/2006/main" noGrp="1"/>
          </p:cNvSpPr>
          <p:nvPr/>
        </p:nvSpPr>
        <p:spPr>
          <a:xfrm xmlns:a="http://schemas.openxmlformats.org/drawingml/2006/main">
            <a:off x="838200" y="2667000"/>
            <a:ext cx="3190875" cy="1200150"/>
          </a:xfrm>
          <a:prstGeom xmlns:a="http://schemas.openxmlformats.org/drawingml/2006/main" prst="roundRect">
            <a:avLst>
              <a:gd name="adj" fmla="val 6349"/>
            </a:avLst>
          </a:prstGeom>
          <a:solidFill xmlns:a="http://schemas.openxmlformats.org/drawingml/2006/main">
            <a:srgbClr val="E7F5FF"/>
          </a:solidFill>
          <a:ln xmlns:a="http://schemas.openxmlformats.org/drawingml/2006/main" w="11430">
            <a:solidFill>
              <a:srgbClr val="087F8C"/>
            </a:solidFill>
            <a:prstDash val="solid"/>
          </a:ln>
        </p:spPr>
      </p:sp>
      <p:sp>
        <p:nvSpPr>
          <p:cNvPr id="6" name="">
            <a:extLst xmlns:a="http://schemas.openxmlformats.org/drawingml/2006/main">
              <a:ext uri="{FF2B5EF4-FFF2-40B4-BE49-F238E27FC236}">
                <a16:creationId xmlns:a16="http://schemas.microsoft.com/office/drawing/2014/main" id="{443F76EC-0E7B-4B39-980E-CADC3F19EC5F}"/>
              </a:ext>
            </a:extLst>
          </p:cNvPr>
          <p:cNvSpPr>
            <a:spLocks xmlns:a="http://schemas.openxmlformats.org/drawingml/2006/main" noGrp="1"/>
          </p:cNvSpPr>
          <p:nvPr/>
        </p:nvSpPr>
        <p:spPr>
          <a:xfrm xmlns:a="http://schemas.openxmlformats.org/drawingml/2006/main">
            <a:off x="1047750" y="2857500"/>
            <a:ext cx="27717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392"/>
          </a:bodyPr>
          <a:lstStyle xmlns:a="http://schemas.openxmlformats.org/drawingml/2006/main"/>
          <a:p xmlns:a="http://schemas.openxmlformats.org/drawingml/2006/main">
            <a:pPr>
              <a:defRPr sz="1275" b="1">
                <a:solidFill>
                  <a:srgbClr val="087F8C"/>
                </a:solidFill>
                <a:latin typeface="Arial"/>
                <a:ea typeface="Arial"/>
                <a:cs typeface="Arial"/>
              </a:defRPr>
            </a:pPr>
            <a:r>
              <a:rPr sz="1275" b="1">
                <a:solidFill>
                  <a:srgbClr val="087F8C"/>
                </a:solidFill>
                <a:latin typeface="Arial"/>
                <a:ea typeface="Arial"/>
                <a:cs typeface="Arial"/>
              </a:rPr>
              <a:t>Vấn đề 1</a:t>
            </a:r>
          </a:p>
        </p:txBody>
      </p:sp>
      <p:sp>
        <p:nvSpPr>
          <p:cNvPr id="7" name="">
            <a:extLst xmlns:a="http://schemas.openxmlformats.org/drawingml/2006/main">
              <a:ext uri="{FF2B5EF4-FFF2-40B4-BE49-F238E27FC236}">
                <a16:creationId xmlns:a16="http://schemas.microsoft.com/office/drawing/2014/main" id="{D4E2F9EF-A044-48F4-9EE3-5054D1DC72E3}"/>
              </a:ext>
            </a:extLst>
          </p:cNvPr>
          <p:cNvSpPr>
            <a:spLocks xmlns:a="http://schemas.openxmlformats.org/drawingml/2006/main" noGrp="1"/>
          </p:cNvSpPr>
          <p:nvPr/>
        </p:nvSpPr>
        <p:spPr>
          <a:xfrm xmlns:a="http://schemas.openxmlformats.org/drawingml/2006/main">
            <a:off x="1047750" y="3162300"/>
            <a:ext cx="27717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4058"/>
          </a:bodyPr>
          <a:lstStyle xmlns:a="http://schemas.openxmlformats.org/drawingml/2006/main"/>
          <a:p xmlns:a="http://schemas.openxmlformats.org/drawingml/2006/main">
            <a:pPr>
              <a:defRPr sz="1725" b="1">
                <a:solidFill>
                  <a:srgbClr val="172033"/>
                </a:solidFill>
                <a:latin typeface="Arial"/>
                <a:ea typeface="Arial"/>
                <a:cs typeface="Arial"/>
              </a:defRPr>
            </a:pPr>
            <a:r>
              <a:rPr sz="1725" b="1">
                <a:solidFill>
                  <a:srgbClr val="172033"/>
                </a:solidFill>
                <a:latin typeface="Arial"/>
                <a:ea typeface="Arial"/>
                <a:cs typeface="Arial"/>
              </a:rPr>
              <a:t>Sinh viên mất thời gian tìm quy định phù hợp</a:t>
            </a:r>
          </a:p>
        </p:txBody>
      </p:sp>
      <p:sp>
        <p:nvSpPr>
          <p:cNvPr id="8" name="">
            <a:extLst xmlns:a="http://schemas.openxmlformats.org/drawingml/2006/main">
              <a:ext uri="{FF2B5EF4-FFF2-40B4-BE49-F238E27FC236}">
                <a16:creationId xmlns:a16="http://schemas.microsoft.com/office/drawing/2014/main" id="{475F3DD6-7F37-40AE-AE96-A0B73CC5493A}"/>
              </a:ext>
            </a:extLst>
          </p:cNvPr>
          <p:cNvSpPr>
            <a:spLocks xmlns:a="http://schemas.openxmlformats.org/drawingml/2006/main" noGrp="1"/>
          </p:cNvSpPr>
          <p:nvPr/>
        </p:nvSpPr>
        <p:spPr>
          <a:xfrm xmlns:a="http://schemas.openxmlformats.org/drawingml/2006/main">
            <a:off x="4495800" y="2667000"/>
            <a:ext cx="3190875" cy="1200150"/>
          </a:xfrm>
          <a:prstGeom xmlns:a="http://schemas.openxmlformats.org/drawingml/2006/main" prst="roundRect">
            <a:avLst>
              <a:gd name="adj" fmla="val 6349"/>
            </a:avLst>
          </a:prstGeom>
          <a:solidFill xmlns:a="http://schemas.openxmlformats.org/drawingml/2006/main">
            <a:srgbClr val="FFF4D6"/>
          </a:solidFill>
          <a:ln xmlns:a="http://schemas.openxmlformats.org/drawingml/2006/main" w="11430">
            <a:solidFill>
              <a:srgbClr val="F59F00"/>
            </a:solidFill>
            <a:prstDash val="solid"/>
          </a:ln>
        </p:spPr>
      </p:sp>
      <p:sp>
        <p:nvSpPr>
          <p:cNvPr id="9" name="">
            <a:extLst xmlns:a="http://schemas.openxmlformats.org/drawingml/2006/main">
              <a:ext uri="{FF2B5EF4-FFF2-40B4-BE49-F238E27FC236}">
                <a16:creationId xmlns:a16="http://schemas.microsoft.com/office/drawing/2014/main" id="{648478C8-142F-4AEF-9519-E5397EE6E50F}"/>
              </a:ext>
            </a:extLst>
          </p:cNvPr>
          <p:cNvSpPr>
            <a:spLocks xmlns:a="http://schemas.openxmlformats.org/drawingml/2006/main" noGrp="1"/>
          </p:cNvSpPr>
          <p:nvPr/>
        </p:nvSpPr>
        <p:spPr>
          <a:xfrm xmlns:a="http://schemas.openxmlformats.org/drawingml/2006/main">
            <a:off x="4705350" y="2857500"/>
            <a:ext cx="27717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392"/>
          </a:bodyPr>
          <a:lstStyle xmlns:a="http://schemas.openxmlformats.org/drawingml/2006/main"/>
          <a:p xmlns:a="http://schemas.openxmlformats.org/drawingml/2006/main">
            <a:pPr>
              <a:defRPr sz="1275" b="1">
                <a:solidFill>
                  <a:srgbClr val="F59F00"/>
                </a:solidFill>
                <a:latin typeface="Arial"/>
                <a:ea typeface="Arial"/>
                <a:cs typeface="Arial"/>
              </a:defRPr>
            </a:pPr>
            <a:r>
              <a:rPr sz="1275" b="1">
                <a:solidFill>
                  <a:srgbClr val="F59F00"/>
                </a:solidFill>
                <a:latin typeface="Arial"/>
                <a:ea typeface="Arial"/>
                <a:cs typeface="Arial"/>
              </a:rPr>
              <a:t>Vấn đề 2</a:t>
            </a:r>
          </a:p>
        </p:txBody>
      </p:sp>
      <p:sp>
        <p:nvSpPr>
          <p:cNvPr id="10" name="">
            <a:extLst xmlns:a="http://schemas.openxmlformats.org/drawingml/2006/main">
              <a:ext uri="{FF2B5EF4-FFF2-40B4-BE49-F238E27FC236}">
                <a16:creationId xmlns:a16="http://schemas.microsoft.com/office/drawing/2014/main" id="{0B6F4AAE-81A7-4B31-82CC-6D33FE23AEAE}"/>
              </a:ext>
            </a:extLst>
          </p:cNvPr>
          <p:cNvSpPr>
            <a:spLocks xmlns:a="http://schemas.openxmlformats.org/drawingml/2006/main" noGrp="1"/>
          </p:cNvSpPr>
          <p:nvPr/>
        </p:nvSpPr>
        <p:spPr>
          <a:xfrm xmlns:a="http://schemas.openxmlformats.org/drawingml/2006/main">
            <a:off x="4705350" y="3162300"/>
            <a:ext cx="27717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4058"/>
          </a:bodyPr>
          <a:lstStyle xmlns:a="http://schemas.openxmlformats.org/drawingml/2006/main"/>
          <a:p xmlns:a="http://schemas.openxmlformats.org/drawingml/2006/main">
            <a:pPr>
              <a:defRPr sz="1725" b="1">
                <a:solidFill>
                  <a:srgbClr val="172033"/>
                </a:solidFill>
                <a:latin typeface="Arial"/>
                <a:ea typeface="Arial"/>
                <a:cs typeface="Arial"/>
              </a:defRPr>
            </a:pPr>
            <a:r>
              <a:rPr sz="1725" b="1">
                <a:solidFill>
                  <a:srgbClr val="172033"/>
                </a:solidFill>
                <a:latin typeface="Arial"/>
                <a:ea typeface="Arial"/>
                <a:cs typeface="Arial"/>
              </a:rPr>
              <a:t>Cán bộ xử lý thủ công nhiều câu hỏi đã có đáp án</a:t>
            </a:r>
          </a:p>
        </p:txBody>
      </p:sp>
      <p:sp>
        <p:nvSpPr>
          <p:cNvPr id="11" name="">
            <a:extLst xmlns:a="http://schemas.openxmlformats.org/drawingml/2006/main">
              <a:ext uri="{FF2B5EF4-FFF2-40B4-BE49-F238E27FC236}">
                <a16:creationId xmlns:a16="http://schemas.microsoft.com/office/drawing/2014/main" id="{A62E9591-1D2E-4138-BC3D-D8065F92E466}"/>
              </a:ext>
            </a:extLst>
          </p:cNvPr>
          <p:cNvSpPr>
            <a:spLocks xmlns:a="http://schemas.openxmlformats.org/drawingml/2006/main" noGrp="1"/>
          </p:cNvSpPr>
          <p:nvPr/>
        </p:nvSpPr>
        <p:spPr>
          <a:xfrm xmlns:a="http://schemas.openxmlformats.org/drawingml/2006/main">
            <a:off x="8153400" y="2667000"/>
            <a:ext cx="3190875" cy="1200150"/>
          </a:xfrm>
          <a:prstGeom xmlns:a="http://schemas.openxmlformats.org/drawingml/2006/main" prst="roundRect">
            <a:avLst>
              <a:gd name="adj" fmla="val 6349"/>
            </a:avLst>
          </a:prstGeom>
          <a:solidFill xmlns:a="http://schemas.openxmlformats.org/drawingml/2006/main">
            <a:srgbClr val="FFE3E3"/>
          </a:solidFill>
          <a:ln xmlns:a="http://schemas.openxmlformats.org/drawingml/2006/main" w="11430">
            <a:solidFill>
              <a:srgbClr val="C92A2A"/>
            </a:solidFill>
            <a:prstDash val="solid"/>
          </a:ln>
        </p:spPr>
      </p:sp>
      <p:sp>
        <p:nvSpPr>
          <p:cNvPr id="12" name="">
            <a:extLst xmlns:a="http://schemas.openxmlformats.org/drawingml/2006/main">
              <a:ext uri="{FF2B5EF4-FFF2-40B4-BE49-F238E27FC236}">
                <a16:creationId xmlns:a16="http://schemas.microsoft.com/office/drawing/2014/main" id="{DA7A147E-C03F-4C4D-A6A1-19B7AF9B9392}"/>
              </a:ext>
            </a:extLst>
          </p:cNvPr>
          <p:cNvSpPr>
            <a:spLocks xmlns:a="http://schemas.openxmlformats.org/drawingml/2006/main" noGrp="1"/>
          </p:cNvSpPr>
          <p:nvPr/>
        </p:nvSpPr>
        <p:spPr>
          <a:xfrm xmlns:a="http://schemas.openxmlformats.org/drawingml/2006/main">
            <a:off x="8362950" y="2857500"/>
            <a:ext cx="27717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392"/>
          </a:bodyPr>
          <a:lstStyle xmlns:a="http://schemas.openxmlformats.org/drawingml/2006/main"/>
          <a:p xmlns:a="http://schemas.openxmlformats.org/drawingml/2006/main">
            <a:pPr>
              <a:defRPr sz="1275" b="1">
                <a:solidFill>
                  <a:srgbClr val="C92A2A"/>
                </a:solidFill>
                <a:latin typeface="Arial"/>
                <a:ea typeface="Arial"/>
                <a:cs typeface="Arial"/>
              </a:defRPr>
            </a:pPr>
            <a:r>
              <a:rPr sz="1275" b="1">
                <a:solidFill>
                  <a:srgbClr val="C92A2A"/>
                </a:solidFill>
                <a:latin typeface="Arial"/>
                <a:ea typeface="Arial"/>
                <a:cs typeface="Arial"/>
              </a:rPr>
              <a:t>Vấn đề 3</a:t>
            </a:r>
          </a:p>
        </p:txBody>
      </p:sp>
      <p:sp>
        <p:nvSpPr>
          <p:cNvPr id="13" name="">
            <a:extLst xmlns:a="http://schemas.openxmlformats.org/drawingml/2006/main">
              <a:ext uri="{FF2B5EF4-FFF2-40B4-BE49-F238E27FC236}">
                <a16:creationId xmlns:a16="http://schemas.microsoft.com/office/drawing/2014/main" id="{5C3370D5-19A4-4739-B828-25D34DCEC54E}"/>
              </a:ext>
            </a:extLst>
          </p:cNvPr>
          <p:cNvSpPr>
            <a:spLocks xmlns:a="http://schemas.openxmlformats.org/drawingml/2006/main" noGrp="1"/>
          </p:cNvSpPr>
          <p:nvPr/>
        </p:nvSpPr>
        <p:spPr>
          <a:xfrm xmlns:a="http://schemas.openxmlformats.org/drawingml/2006/main">
            <a:off x="8362950" y="3162300"/>
            <a:ext cx="27717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4058"/>
          </a:bodyPr>
          <a:lstStyle xmlns:a="http://schemas.openxmlformats.org/drawingml/2006/main"/>
          <a:p xmlns:a="http://schemas.openxmlformats.org/drawingml/2006/main">
            <a:pPr>
              <a:defRPr sz="1725" b="1">
                <a:solidFill>
                  <a:srgbClr val="172033"/>
                </a:solidFill>
                <a:latin typeface="Arial"/>
                <a:ea typeface="Arial"/>
                <a:cs typeface="Arial"/>
              </a:defRPr>
            </a:pPr>
            <a:r>
              <a:rPr sz="1725" b="1">
                <a:solidFill>
                  <a:srgbClr val="172033"/>
                </a:solidFill>
                <a:latin typeface="Arial"/>
                <a:ea typeface="Arial"/>
                <a:cs typeface="Arial"/>
              </a:rPr>
              <a:t>Quy định chung và quy định theo khoa dễ bị hiểu sai</a:t>
            </a:r>
          </a:p>
        </p:txBody>
      </p:sp>
      <p:sp>
        <p:nvSpPr>
          <p:cNvPr id="14" name="">
            <a:extLst xmlns:a="http://schemas.openxmlformats.org/drawingml/2006/main">
              <a:ext uri="{FF2B5EF4-FFF2-40B4-BE49-F238E27FC236}">
                <a16:creationId xmlns:a16="http://schemas.microsoft.com/office/drawing/2014/main" id="{D149EF52-E506-43EF-9500-A6C9D6C95C97}"/>
              </a:ext>
            </a:extLst>
          </p:cNvPr>
          <p:cNvSpPr>
            <a:spLocks xmlns:a="http://schemas.openxmlformats.org/drawingml/2006/main" noGrp="1"/>
          </p:cNvSpPr>
          <p:nvPr/>
        </p:nvSpPr>
        <p:spPr>
          <a:xfrm xmlns:a="http://schemas.openxmlformats.org/drawingml/2006/main">
            <a:off x="990600" y="4895850"/>
            <a:ext cx="9906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7333"/>
          </a:bodyPr>
          <a:lstStyle xmlns:a="http://schemas.openxmlformats.org/drawingml/2006/main"/>
          <a:p xmlns:a="http://schemas.openxmlformats.org/drawingml/2006/main">
            <a:pPr>
              <a:defRPr sz="1875" b="0">
                <a:solidFill>
                  <a:srgbClr val="102A43"/>
                </a:solidFill>
                <a:latin typeface="Arial"/>
                <a:ea typeface="Arial"/>
                <a:cs typeface="Arial"/>
              </a:defRPr>
            </a:pPr>
            <a:r>
              <a:rPr sz="1875" b="0">
                <a:solidFill>
                  <a:srgbClr val="102A43"/>
                </a:solidFill>
                <a:latin typeface="Arial"/>
                <a:ea typeface="Arial"/>
                <a:cs typeface="Arial"/>
              </a:rPr>
              <a:t>Dự án chọn bài toán hỏi đáp học vụ vì đầu ra có thể kiểm chứng bằng nguồn văn bản và có tác động trực tiếp đến sinh viên.</a:t>
            </a:r>
          </a:p>
        </p:txBody>
      </p:sp>
    </p:spTree>
    <p:extLst>
      <p:ext uri="{BB962C8B-B14F-4D97-AF65-F5344CB8AC3E}">
        <p14:creationId xmlns:p14="http://schemas.microsoft.com/office/powerpoint/2010/main" val="2131106568"/>
      </p:ext>
    </p:extLst>
  </p:cSld>
</p:sld>
</file>

<file path=ppt/slides/slide4.xml><?xml version="1.0" encoding="utf-8"?>
<p:sld xmlns:p="http://schemas.openxmlformats.org/presentationml/2006/main">
  <p:cSld>
    <p:bg>
      <p:bgPr>
        <a:solidFill xmlns:a="http://schemas.openxmlformats.org/drawingml/2006/main">
          <a:srgbClr val="F7F8F5"/>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5A9310DB-AAA2-455A-9C97-9451B1285137}"/>
              </a:ext>
            </a:extLst>
          </p:cNvPr>
          <p:cNvSpPr>
            <a:spLocks xmlns:a="http://schemas.openxmlformats.org/drawingml/2006/main" noGrp="1"/>
          </p:cNvSpPr>
          <p:nvPr/>
        </p:nvSpPr>
        <p:spPr>
          <a:xfrm xmlns:a="http://schemas.openxmlformats.org/drawingml/2006/main">
            <a:off x="0" y="0"/>
            <a:ext cx="12192000" cy="171450"/>
          </a:xfrm>
          <a:prstGeom xmlns:a="http://schemas.openxmlformats.org/drawingml/2006/main" prst="rect">
            <a:avLst/>
          </a:prstGeom>
          <a:solidFill xmlns:a="http://schemas.openxmlformats.org/drawingml/2006/main">
            <a:srgbClr val="087F8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E29F404-709F-4262-99BC-6A2534B79E1C}"/>
              </a:ext>
            </a:extLst>
          </p:cNvPr>
          <p:cNvSpPr>
            <a:spLocks xmlns:a="http://schemas.openxmlformats.org/drawingml/2006/main" noGrp="1"/>
          </p:cNvSpPr>
          <p:nvPr/>
        </p:nvSpPr>
        <p:spPr>
          <a:xfrm xmlns:a="http://schemas.openxmlformats.org/drawingml/2006/main">
            <a:off x="685800" y="49530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700" b="1">
                <a:solidFill>
                  <a:srgbClr val="102A43"/>
                </a:solidFill>
                <a:latin typeface="Arial"/>
                <a:ea typeface="Arial"/>
                <a:cs typeface="Arial"/>
              </a:defRPr>
            </a:pPr>
            <a:r>
              <a:rPr sz="2700" b="1">
                <a:solidFill>
                  <a:srgbClr val="102A43"/>
                </a:solidFill>
                <a:latin typeface="Arial"/>
                <a:ea typeface="Arial"/>
                <a:cs typeface="Arial"/>
              </a:rPr>
              <a:t>Mục tiêu sản phẩm</a:t>
            </a:r>
          </a:p>
        </p:txBody>
      </p:sp>
      <p:sp>
        <p:nvSpPr>
          <p:cNvPr id="3" name="">
            <a:extLst xmlns:a="http://schemas.openxmlformats.org/drawingml/2006/main">
              <a:ext uri="{FF2B5EF4-FFF2-40B4-BE49-F238E27FC236}">
                <a16:creationId xmlns:a16="http://schemas.microsoft.com/office/drawing/2014/main" id="{9FD06B49-F513-4E3A-A41D-595F893B4EDD}"/>
              </a:ext>
            </a:extLst>
          </p:cNvPr>
          <p:cNvSpPr>
            <a:spLocks xmlns:a="http://schemas.openxmlformats.org/drawingml/2006/main" noGrp="1"/>
          </p:cNvSpPr>
          <p:nvPr/>
        </p:nvSpPr>
        <p:spPr>
          <a:xfrm xmlns:a="http://schemas.openxmlformats.org/drawingml/2006/main">
            <a:off x="685800" y="6305550"/>
            <a:ext cx="400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714"/>
          </a:bodyPr>
          <a:lstStyle xmlns:a="http://schemas.openxmlformats.org/drawingml/2006/main"/>
          <a:p xmlns:a="http://schemas.openxmlformats.org/drawingml/2006/main">
            <a:pPr>
              <a:defRPr sz="1050" b="0">
                <a:solidFill>
                  <a:srgbClr val="586273"/>
                </a:solidFill>
                <a:latin typeface="Arial"/>
                <a:ea typeface="Arial"/>
                <a:cs typeface="Arial"/>
              </a:defRPr>
            </a:pPr>
            <a:r>
              <a:rPr sz="1050" b="0">
                <a:solidFill>
                  <a:srgbClr val="586273"/>
                </a:solidFill>
                <a:latin typeface="Arial"/>
                <a:ea typeface="Arial"/>
                <a:cs typeface="Arial"/>
              </a:rPr>
              <a:t>Báo cáo dự án Tàng Thư</a:t>
            </a:r>
          </a:p>
        </p:txBody>
      </p:sp>
      <p:sp>
        <p:nvSpPr>
          <p:cNvPr id="4" name="">
            <a:extLst xmlns:a="http://schemas.openxmlformats.org/drawingml/2006/main">
              <a:ext uri="{FF2B5EF4-FFF2-40B4-BE49-F238E27FC236}">
                <a16:creationId xmlns:a16="http://schemas.microsoft.com/office/drawing/2014/main" id="{B09E9F7B-B549-4883-936E-7003213997CA}"/>
              </a:ext>
            </a:extLst>
          </p:cNvPr>
          <p:cNvSpPr>
            <a:spLocks xmlns:a="http://schemas.openxmlformats.org/drawingml/2006/main" noGrp="1"/>
          </p:cNvSpPr>
          <p:nvPr/>
        </p:nvSpPr>
        <p:spPr>
          <a:xfrm xmlns:a="http://schemas.openxmlformats.org/drawingml/2006/main">
            <a:off x="781050" y="1390650"/>
            <a:ext cx="65722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7648"/>
          </a:bodyPr>
          <a:lstStyle xmlns:a="http://schemas.openxmlformats.org/drawingml/2006/main"/>
          <a:p xmlns:a="http://schemas.openxmlformats.org/drawingml/2006/main">
            <a:pPr>
              <a:defRPr sz="2400" b="1">
                <a:solidFill>
                  <a:srgbClr val="102A43"/>
                </a:solidFill>
                <a:latin typeface="Arial"/>
                <a:ea typeface="Arial"/>
                <a:cs typeface="Arial"/>
              </a:defRPr>
            </a:pPr>
            <a:r>
              <a:rPr sz="2400" b="1">
                <a:solidFill>
                  <a:srgbClr val="102A43"/>
                </a:solidFill>
                <a:latin typeface="Arial"/>
                <a:ea typeface="Arial"/>
                <a:cs typeface="Arial"/>
              </a:rPr>
              <a:t>Một cửa duy nhất để sinh viên hỏi bằng tiếng Việt tự nhiên và nhận câu trả lời có căn cứ.</a:t>
            </a:r>
          </a:p>
        </p:txBody>
      </p:sp>
      <p:sp>
        <p:nvSpPr>
          <p:cNvPr id="5" name="">
            <a:extLst xmlns:a="http://schemas.openxmlformats.org/drawingml/2006/main">
              <a:ext uri="{FF2B5EF4-FFF2-40B4-BE49-F238E27FC236}">
                <a16:creationId xmlns:a16="http://schemas.microsoft.com/office/drawing/2014/main" id="{5107C5BE-71B1-4034-9842-A844C78684D6}"/>
              </a:ext>
            </a:extLst>
          </p:cNvPr>
          <p:cNvSpPr>
            <a:spLocks xmlns:a="http://schemas.openxmlformats.org/drawingml/2006/main" noGrp="1"/>
          </p:cNvSpPr>
          <p:nvPr/>
        </p:nvSpPr>
        <p:spPr>
          <a:xfrm xmlns:a="http://schemas.openxmlformats.org/drawingml/2006/main">
            <a:off x="914400" y="2800350"/>
            <a:ext cx="95250" cy="95250"/>
          </a:xfrm>
          <a:prstGeom xmlns:a="http://schemas.openxmlformats.org/drawingml/2006/main" prst="roundRect">
            <a:avLst>
              <a:gd name="adj" fmla="val 50000"/>
            </a:avLst>
          </a:prstGeom>
          <a:solidFill xmlns:a="http://schemas.openxmlformats.org/drawingml/2006/main">
            <a:srgbClr val="087F8C"/>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8BD97FE3-5083-430A-B877-C017094707C3}"/>
              </a:ext>
            </a:extLst>
          </p:cNvPr>
          <p:cNvSpPr>
            <a:spLocks xmlns:a="http://schemas.openxmlformats.org/drawingml/2006/main" noGrp="1"/>
          </p:cNvSpPr>
          <p:nvPr/>
        </p:nvSpPr>
        <p:spPr>
          <a:xfrm xmlns:a="http://schemas.openxmlformats.org/drawingml/2006/main">
            <a:off x="1162050" y="2724150"/>
            <a:ext cx="67151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7076"/>
          </a:bodyPr>
          <a:lstStyle xmlns:a="http://schemas.openxmlformats.org/drawingml/2006/main"/>
          <a:p xmlns:a="http://schemas.openxmlformats.org/drawingml/2006/main">
            <a:pPr>
              <a:defRPr sz="1725" b="0">
                <a:solidFill>
                  <a:srgbClr val="172033"/>
                </a:solidFill>
                <a:latin typeface="Arial"/>
                <a:ea typeface="Arial"/>
                <a:cs typeface="Arial"/>
              </a:defRPr>
            </a:pPr>
            <a:r>
              <a:rPr sz="1725" b="0">
                <a:solidFill>
                  <a:srgbClr val="172033"/>
                </a:solidFill>
                <a:latin typeface="Arial"/>
                <a:ea typeface="Arial"/>
                <a:cs typeface="Arial"/>
              </a:rPr>
              <a:t>Câu trả lời bám vào văn bản nguồn, không suy đoán khi thiếu căn cứ</a:t>
            </a:r>
          </a:p>
        </p:txBody>
      </p:sp>
      <p:sp>
        <p:nvSpPr>
          <p:cNvPr id="7" name="">
            <a:extLst xmlns:a="http://schemas.openxmlformats.org/drawingml/2006/main">
              <a:ext uri="{FF2B5EF4-FFF2-40B4-BE49-F238E27FC236}">
                <a16:creationId xmlns:a16="http://schemas.microsoft.com/office/drawing/2014/main" id="{C3D4550C-EC96-44ED-845A-3560010D0E4A}"/>
              </a:ext>
            </a:extLst>
          </p:cNvPr>
          <p:cNvSpPr>
            <a:spLocks xmlns:a="http://schemas.openxmlformats.org/drawingml/2006/main" noGrp="1"/>
          </p:cNvSpPr>
          <p:nvPr/>
        </p:nvSpPr>
        <p:spPr>
          <a:xfrm xmlns:a="http://schemas.openxmlformats.org/drawingml/2006/main">
            <a:off x="914400" y="3352800"/>
            <a:ext cx="95250" cy="95250"/>
          </a:xfrm>
          <a:prstGeom xmlns:a="http://schemas.openxmlformats.org/drawingml/2006/main" prst="roundRect">
            <a:avLst>
              <a:gd name="adj" fmla="val 50000"/>
            </a:avLst>
          </a:prstGeom>
          <a:solidFill xmlns:a="http://schemas.openxmlformats.org/drawingml/2006/main">
            <a:srgbClr val="087F8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A70A6CB5-EE99-48E4-846D-14F2F5E0B325}"/>
              </a:ext>
            </a:extLst>
          </p:cNvPr>
          <p:cNvSpPr>
            <a:spLocks xmlns:a="http://schemas.openxmlformats.org/drawingml/2006/main" noGrp="1"/>
          </p:cNvSpPr>
          <p:nvPr/>
        </p:nvSpPr>
        <p:spPr>
          <a:xfrm xmlns:a="http://schemas.openxmlformats.org/drawingml/2006/main">
            <a:off x="1162050" y="3276600"/>
            <a:ext cx="67151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725" b="0">
                <a:solidFill>
                  <a:srgbClr val="172033"/>
                </a:solidFill>
                <a:latin typeface="Arial"/>
                <a:ea typeface="Arial"/>
                <a:cs typeface="Arial"/>
              </a:defRPr>
            </a:pPr>
            <a:r>
              <a:rPr sz="1725" b="0">
                <a:solidFill>
                  <a:srgbClr val="172033"/>
                </a:solidFill>
                <a:latin typeface="Arial"/>
                <a:ea typeface="Arial"/>
                <a:cs typeface="Arial"/>
              </a:rPr>
              <a:t>Trích dẫn đủ rõ để người dùng mở lại đúng tài liệu gốc</a:t>
            </a:r>
          </a:p>
        </p:txBody>
      </p:sp>
      <p:sp>
        <p:nvSpPr>
          <p:cNvPr id="9" name="">
            <a:extLst xmlns:a="http://schemas.openxmlformats.org/drawingml/2006/main">
              <a:ext uri="{FF2B5EF4-FFF2-40B4-BE49-F238E27FC236}">
                <a16:creationId xmlns:a16="http://schemas.microsoft.com/office/drawing/2014/main" id="{D2737C18-6B30-4B19-9BDC-CEB2C3211544}"/>
              </a:ext>
            </a:extLst>
          </p:cNvPr>
          <p:cNvSpPr>
            <a:spLocks xmlns:a="http://schemas.openxmlformats.org/drawingml/2006/main" noGrp="1"/>
          </p:cNvSpPr>
          <p:nvPr/>
        </p:nvSpPr>
        <p:spPr>
          <a:xfrm xmlns:a="http://schemas.openxmlformats.org/drawingml/2006/main">
            <a:off x="914400" y="3905250"/>
            <a:ext cx="95250" cy="95250"/>
          </a:xfrm>
          <a:prstGeom xmlns:a="http://schemas.openxmlformats.org/drawingml/2006/main" prst="roundRect">
            <a:avLst>
              <a:gd name="adj" fmla="val 50000"/>
            </a:avLst>
          </a:prstGeom>
          <a:solidFill xmlns:a="http://schemas.openxmlformats.org/drawingml/2006/main">
            <a:srgbClr val="087F8C"/>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D9441FB7-E9A4-4C2A-BD92-23CBCD68B397}"/>
              </a:ext>
            </a:extLst>
          </p:cNvPr>
          <p:cNvSpPr>
            <a:spLocks xmlns:a="http://schemas.openxmlformats.org/drawingml/2006/main" noGrp="1"/>
          </p:cNvSpPr>
          <p:nvPr/>
        </p:nvSpPr>
        <p:spPr>
          <a:xfrm xmlns:a="http://schemas.openxmlformats.org/drawingml/2006/main">
            <a:off x="1162050" y="3829050"/>
            <a:ext cx="67151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9906"/>
          </a:bodyPr>
          <a:lstStyle xmlns:a="http://schemas.openxmlformats.org/drawingml/2006/main"/>
          <a:p xmlns:a="http://schemas.openxmlformats.org/drawingml/2006/main">
            <a:pPr>
              <a:defRPr sz="1725" b="0">
                <a:solidFill>
                  <a:srgbClr val="172033"/>
                </a:solidFill>
                <a:latin typeface="Arial"/>
                <a:ea typeface="Arial"/>
                <a:cs typeface="Arial"/>
              </a:defRPr>
            </a:pPr>
            <a:r>
              <a:rPr sz="1725" b="0">
                <a:solidFill>
                  <a:srgbClr val="172033"/>
                </a:solidFill>
                <a:latin typeface="Arial"/>
                <a:ea typeface="Arial"/>
                <a:cs typeface="Arial"/>
              </a:rPr>
              <a:t>Nội dung trả về phù hợp với phạm vi toàn trường hoặc khoa của người hỏi</a:t>
            </a:r>
          </a:p>
        </p:txBody>
      </p:sp>
      <p:sp>
        <p:nvSpPr>
          <p:cNvPr id="11" name="">
            <a:extLst xmlns:a="http://schemas.openxmlformats.org/drawingml/2006/main">
              <a:ext uri="{FF2B5EF4-FFF2-40B4-BE49-F238E27FC236}">
                <a16:creationId xmlns:a16="http://schemas.microsoft.com/office/drawing/2014/main" id="{BBA2B10F-C4FA-4256-BFFC-3E2A4660C18A}"/>
              </a:ext>
            </a:extLst>
          </p:cNvPr>
          <p:cNvSpPr>
            <a:spLocks xmlns:a="http://schemas.openxmlformats.org/drawingml/2006/main" noGrp="1"/>
          </p:cNvSpPr>
          <p:nvPr/>
        </p:nvSpPr>
        <p:spPr>
          <a:xfrm xmlns:a="http://schemas.openxmlformats.org/drawingml/2006/main">
            <a:off x="914400" y="4457700"/>
            <a:ext cx="95250" cy="95250"/>
          </a:xfrm>
          <a:prstGeom xmlns:a="http://schemas.openxmlformats.org/drawingml/2006/main" prst="roundRect">
            <a:avLst>
              <a:gd name="adj" fmla="val 50000"/>
            </a:avLst>
          </a:prstGeom>
          <a:solidFill xmlns:a="http://schemas.openxmlformats.org/drawingml/2006/main">
            <a:srgbClr val="087F8C"/>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202B95CD-4DD4-4880-95B4-EDD73E81BE02}"/>
              </a:ext>
            </a:extLst>
          </p:cNvPr>
          <p:cNvSpPr>
            <a:spLocks xmlns:a="http://schemas.openxmlformats.org/drawingml/2006/main" noGrp="1"/>
          </p:cNvSpPr>
          <p:nvPr/>
        </p:nvSpPr>
        <p:spPr>
          <a:xfrm xmlns:a="http://schemas.openxmlformats.org/drawingml/2006/main">
            <a:off x="1162050" y="4381500"/>
            <a:ext cx="67151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725" b="0">
                <a:solidFill>
                  <a:srgbClr val="172033"/>
                </a:solidFill>
                <a:latin typeface="Arial"/>
                <a:ea typeface="Arial"/>
                <a:cs typeface="Arial"/>
              </a:defRPr>
            </a:pPr>
            <a:r>
              <a:rPr sz="1725" b="0">
                <a:solidFill>
                  <a:srgbClr val="172033"/>
                </a:solidFill>
                <a:latin typeface="Arial"/>
                <a:ea typeface="Arial"/>
                <a:cs typeface="Arial"/>
              </a:rPr>
              <a:t>Luồng sử dụng đơn giản cho cả sinh viên và người quản lý tài liệu</a:t>
            </a:r>
          </a:p>
        </p:txBody>
      </p:sp>
      <p:pic>
        <p:nvPicPr>
          <p:cNvPr id="26" name=""/>
          <p:cNvPicPr>
            <a:picLocks xmlns:a="http://schemas.openxmlformats.org/drawingml/2006/main" noChangeAspect="1"/>
          </p:cNvPicPr>
          <p:nvPr/>
        </p:nvPicPr>
        <p:blipFill>
          <a:blip xmlns:r="http://schemas.openxmlformats.org/officeDocument/2006/relationships" xmlns:a="http://schemas.openxmlformats.org/drawingml/2006/main" r:embed="R34dde0be5678492f"/>
          <a:srcRect xmlns:a="http://schemas.openxmlformats.org/drawingml/2006/main" l="2558" t="0" r="2558" b="0"/>
          <a:stretch xmlns:a="http://schemas.openxmlformats.org/drawingml/2006/main">
            <a:fillRect l="0" t="0" r="0" b="0"/>
          </a:stretch>
        </p:blipFill>
        <p:spPr>
          <a:xfrm xmlns:a="http://schemas.openxmlformats.org/drawingml/2006/main">
            <a:off x="8191500" y="1352550"/>
            <a:ext cx="2914650" cy="4095750"/>
          </a:xfrm>
          <a:prstGeom xmlns:a="http://schemas.openxmlformats.org/drawingml/2006/main" prst="roundRect">
            <a:avLst>
              <a:gd name="adj" fmla="val 2614"/>
            </a:avLst>
          </a:prstGeom>
        </p:spPr>
      </p:pic>
    </p:spTree>
    <p:extLst>
      <p:ext uri="{BB962C8B-B14F-4D97-AF65-F5344CB8AC3E}">
        <p14:creationId xmlns:p14="http://schemas.microsoft.com/office/powerpoint/2010/main" val="1391659541"/>
      </p:ext>
    </p:extLst>
  </p:cSld>
</p:sld>
</file>

<file path=ppt/slides/slide5.xml><?xml version="1.0" encoding="utf-8"?>
<p:sld xmlns:p="http://schemas.openxmlformats.org/presentationml/2006/main">
  <p:cSld>
    <p:bg>
      <p:bgPr>
        <a:solidFill xmlns:a="http://schemas.openxmlformats.org/drawingml/2006/main">
          <a:srgbClr val="F7F8F5"/>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675B71DA-BA91-4423-9549-064AAFD6666C}"/>
              </a:ext>
            </a:extLst>
          </p:cNvPr>
          <p:cNvSpPr>
            <a:spLocks xmlns:a="http://schemas.openxmlformats.org/drawingml/2006/main" noGrp="1"/>
          </p:cNvSpPr>
          <p:nvPr/>
        </p:nvSpPr>
        <p:spPr>
          <a:xfrm xmlns:a="http://schemas.openxmlformats.org/drawingml/2006/main">
            <a:off x="0" y="0"/>
            <a:ext cx="12192000" cy="171450"/>
          </a:xfrm>
          <a:prstGeom xmlns:a="http://schemas.openxmlformats.org/drawingml/2006/main" prst="rect">
            <a:avLst/>
          </a:prstGeom>
          <a:solidFill xmlns:a="http://schemas.openxmlformats.org/drawingml/2006/main">
            <a:srgbClr val="087F8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458959B-6AE0-4FD2-83FD-76D34C989E86}"/>
              </a:ext>
            </a:extLst>
          </p:cNvPr>
          <p:cNvSpPr>
            <a:spLocks xmlns:a="http://schemas.openxmlformats.org/drawingml/2006/main" noGrp="1"/>
          </p:cNvSpPr>
          <p:nvPr/>
        </p:nvSpPr>
        <p:spPr>
          <a:xfrm xmlns:a="http://schemas.openxmlformats.org/drawingml/2006/main">
            <a:off x="685800" y="49530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700" b="1">
                <a:solidFill>
                  <a:srgbClr val="102A43"/>
                </a:solidFill>
                <a:latin typeface="Arial"/>
                <a:ea typeface="Arial"/>
                <a:cs typeface="Arial"/>
              </a:defRPr>
            </a:pPr>
            <a:r>
              <a:rPr sz="2700" b="1">
                <a:solidFill>
                  <a:srgbClr val="102A43"/>
                </a:solidFill>
                <a:latin typeface="Arial"/>
                <a:ea typeface="Arial"/>
                <a:cs typeface="Arial"/>
              </a:rPr>
              <a:t>Phạm vi và ranh giới</a:t>
            </a:r>
          </a:p>
        </p:txBody>
      </p:sp>
      <p:sp>
        <p:nvSpPr>
          <p:cNvPr id="3" name="">
            <a:extLst xmlns:a="http://schemas.openxmlformats.org/drawingml/2006/main">
              <a:ext uri="{FF2B5EF4-FFF2-40B4-BE49-F238E27FC236}">
                <a16:creationId xmlns:a16="http://schemas.microsoft.com/office/drawing/2014/main" id="{AE2E70B4-5FA4-4C4B-90BF-B8906D5815EC}"/>
              </a:ext>
            </a:extLst>
          </p:cNvPr>
          <p:cNvSpPr>
            <a:spLocks xmlns:a="http://schemas.openxmlformats.org/drawingml/2006/main" noGrp="1"/>
          </p:cNvSpPr>
          <p:nvPr/>
        </p:nvSpPr>
        <p:spPr>
          <a:xfrm xmlns:a="http://schemas.openxmlformats.org/drawingml/2006/main">
            <a:off x="685800" y="6305550"/>
            <a:ext cx="400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714"/>
          </a:bodyPr>
          <a:lstStyle xmlns:a="http://schemas.openxmlformats.org/drawingml/2006/main"/>
          <a:p xmlns:a="http://schemas.openxmlformats.org/drawingml/2006/main">
            <a:pPr>
              <a:defRPr sz="1050" b="0">
                <a:solidFill>
                  <a:srgbClr val="586273"/>
                </a:solidFill>
                <a:latin typeface="Arial"/>
                <a:ea typeface="Arial"/>
                <a:cs typeface="Arial"/>
              </a:defRPr>
            </a:pPr>
            <a:r>
              <a:rPr sz="1050" b="0">
                <a:solidFill>
                  <a:srgbClr val="586273"/>
                </a:solidFill>
                <a:latin typeface="Arial"/>
                <a:ea typeface="Arial"/>
                <a:cs typeface="Arial"/>
              </a:rPr>
              <a:t>Báo cáo dự án Tàng Thư</a:t>
            </a:r>
          </a:p>
        </p:txBody>
      </p:sp>
      <p:sp>
        <p:nvSpPr>
          <p:cNvPr id="4" name="">
            <a:extLst xmlns:a="http://schemas.openxmlformats.org/drawingml/2006/main">
              <a:ext uri="{FF2B5EF4-FFF2-40B4-BE49-F238E27FC236}">
                <a16:creationId xmlns:a16="http://schemas.microsoft.com/office/drawing/2014/main" id="{23DCCF34-1FDF-4AAE-A972-5DFAF00C1102}"/>
              </a:ext>
            </a:extLst>
          </p:cNvPr>
          <p:cNvSpPr>
            <a:spLocks xmlns:a="http://schemas.openxmlformats.org/drawingml/2006/main" noGrp="1"/>
          </p:cNvSpPr>
          <p:nvPr/>
        </p:nvSpPr>
        <p:spPr>
          <a:xfrm xmlns:a="http://schemas.openxmlformats.org/drawingml/2006/main">
            <a:off x="762000" y="1476375"/>
            <a:ext cx="5048250" cy="3524250"/>
          </a:xfrm>
          <a:prstGeom xmlns:a="http://schemas.openxmlformats.org/drawingml/2006/main" prst="roundRect">
            <a:avLst>
              <a:gd name="adj" fmla="val 2162"/>
            </a:avLst>
          </a:prstGeom>
          <a:solidFill xmlns:a="http://schemas.openxmlformats.org/drawingml/2006/main">
            <a:srgbClr val="EBF7EF"/>
          </a:solidFill>
          <a:ln xmlns:a="http://schemas.openxmlformats.org/drawingml/2006/main" w="9525">
            <a:solidFill>
              <a:srgbClr val="B7E4C7"/>
            </a:solidFill>
            <a:prstDash val="solid"/>
          </a:ln>
        </p:spPr>
      </p:sp>
      <p:sp>
        <p:nvSpPr>
          <p:cNvPr id="5" name="">
            <a:extLst xmlns:a="http://schemas.openxmlformats.org/drawingml/2006/main">
              <a:ext uri="{FF2B5EF4-FFF2-40B4-BE49-F238E27FC236}">
                <a16:creationId xmlns:a16="http://schemas.microsoft.com/office/drawing/2014/main" id="{BB8D9824-1A78-45E4-9882-9BE97B2107C4}"/>
              </a:ext>
            </a:extLst>
          </p:cNvPr>
          <p:cNvSpPr>
            <a:spLocks xmlns:a="http://schemas.openxmlformats.org/drawingml/2006/main" noGrp="1"/>
          </p:cNvSpPr>
          <p:nvPr/>
        </p:nvSpPr>
        <p:spPr>
          <a:xfrm xmlns:a="http://schemas.openxmlformats.org/drawingml/2006/main">
            <a:off x="6381750" y="1476375"/>
            <a:ext cx="5048250" cy="3524250"/>
          </a:xfrm>
          <a:prstGeom xmlns:a="http://schemas.openxmlformats.org/drawingml/2006/main" prst="roundRect">
            <a:avLst>
              <a:gd name="adj" fmla="val 2162"/>
            </a:avLst>
          </a:prstGeom>
          <a:solidFill xmlns:a="http://schemas.openxmlformats.org/drawingml/2006/main">
            <a:srgbClr val="FFE3E3"/>
          </a:solidFill>
          <a:ln xmlns:a="http://schemas.openxmlformats.org/drawingml/2006/main" w="9525">
            <a:solidFill>
              <a:srgbClr val="FFC9C9"/>
            </a:solidFill>
            <a:prstDash val="solid"/>
          </a:ln>
        </p:spPr>
      </p:sp>
      <p:sp>
        <p:nvSpPr>
          <p:cNvPr id="6" name="">
            <a:extLst xmlns:a="http://schemas.openxmlformats.org/drawingml/2006/main">
              <a:ext uri="{FF2B5EF4-FFF2-40B4-BE49-F238E27FC236}">
                <a16:creationId xmlns:a16="http://schemas.microsoft.com/office/drawing/2014/main" id="{D30733C1-ACD6-43B0-B6A9-214A7D8C9E48}"/>
              </a:ext>
            </a:extLst>
          </p:cNvPr>
          <p:cNvSpPr>
            <a:spLocks xmlns:a="http://schemas.openxmlformats.org/drawingml/2006/main" noGrp="1"/>
          </p:cNvSpPr>
          <p:nvPr/>
        </p:nvSpPr>
        <p:spPr>
          <a:xfrm xmlns:a="http://schemas.openxmlformats.org/drawingml/2006/main">
            <a:off x="1066800" y="1790700"/>
            <a:ext cx="4095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8889"/>
          </a:bodyPr>
          <a:lstStyle xmlns:a="http://schemas.openxmlformats.org/drawingml/2006/main"/>
          <a:p xmlns:a="http://schemas.openxmlformats.org/drawingml/2006/main">
            <a:pPr>
              <a:defRPr sz="2250" b="1">
                <a:solidFill>
                  <a:srgbClr val="2F9E44"/>
                </a:solidFill>
                <a:latin typeface="Arial"/>
                <a:ea typeface="Arial"/>
                <a:cs typeface="Arial"/>
              </a:defRPr>
            </a:pPr>
            <a:r>
              <a:rPr sz="2250" b="1">
                <a:solidFill>
                  <a:srgbClr val="2F9E44"/>
                </a:solidFill>
                <a:latin typeface="Arial"/>
                <a:ea typeface="Arial"/>
                <a:cs typeface="Arial"/>
              </a:rPr>
              <a:t>Trong phạm vi</a:t>
            </a:r>
          </a:p>
        </p:txBody>
      </p:sp>
      <p:sp>
        <p:nvSpPr>
          <p:cNvPr id="7" name="">
            <a:extLst xmlns:a="http://schemas.openxmlformats.org/drawingml/2006/main">
              <a:ext uri="{FF2B5EF4-FFF2-40B4-BE49-F238E27FC236}">
                <a16:creationId xmlns:a16="http://schemas.microsoft.com/office/drawing/2014/main" id="{4D468822-5AF0-461A-8CCE-C9CD1D7EC612}"/>
              </a:ext>
            </a:extLst>
          </p:cNvPr>
          <p:cNvSpPr>
            <a:spLocks xmlns:a="http://schemas.openxmlformats.org/drawingml/2006/main" noGrp="1"/>
          </p:cNvSpPr>
          <p:nvPr/>
        </p:nvSpPr>
        <p:spPr>
          <a:xfrm xmlns:a="http://schemas.openxmlformats.org/drawingml/2006/main">
            <a:off x="1104900" y="2505075"/>
            <a:ext cx="95250" cy="95250"/>
          </a:xfrm>
          <a:prstGeom xmlns:a="http://schemas.openxmlformats.org/drawingml/2006/main" prst="roundRect">
            <a:avLst>
              <a:gd name="adj" fmla="val 50000"/>
            </a:avLst>
          </a:prstGeom>
          <a:solidFill xmlns:a="http://schemas.openxmlformats.org/drawingml/2006/main">
            <a:srgbClr val="087F8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68F6C402-CD32-43B6-83E3-C7E8CB2A6275}"/>
              </a:ext>
            </a:extLst>
          </p:cNvPr>
          <p:cNvSpPr>
            <a:spLocks xmlns:a="http://schemas.openxmlformats.org/drawingml/2006/main" noGrp="1"/>
          </p:cNvSpPr>
          <p:nvPr/>
        </p:nvSpPr>
        <p:spPr>
          <a:xfrm xmlns:a="http://schemas.openxmlformats.org/drawingml/2006/main">
            <a:off x="1352550" y="2428875"/>
            <a:ext cx="4000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392"/>
          </a:bodyPr>
          <a:lstStyle xmlns:a="http://schemas.openxmlformats.org/drawingml/2006/main"/>
          <a:p xmlns:a="http://schemas.openxmlformats.org/drawingml/2006/main">
            <a:pPr>
              <a:defRPr sz="1500" b="0">
                <a:solidFill>
                  <a:srgbClr val="172033"/>
                </a:solidFill>
                <a:latin typeface="Arial"/>
                <a:ea typeface="Arial"/>
                <a:cs typeface="Arial"/>
              </a:defRPr>
            </a:pPr>
            <a:r>
              <a:rPr sz="1500" b="0">
                <a:solidFill>
                  <a:srgbClr val="172033"/>
                </a:solidFill>
                <a:latin typeface="Arial"/>
                <a:ea typeface="Arial"/>
                <a:cs typeface="Arial"/>
              </a:rPr>
              <a:t>Quản lý tài liệu theo khoa, phòng ban và toàn trường</a:t>
            </a:r>
          </a:p>
        </p:txBody>
      </p:sp>
      <p:sp>
        <p:nvSpPr>
          <p:cNvPr id="9" name="">
            <a:extLst xmlns:a="http://schemas.openxmlformats.org/drawingml/2006/main">
              <a:ext uri="{FF2B5EF4-FFF2-40B4-BE49-F238E27FC236}">
                <a16:creationId xmlns:a16="http://schemas.microsoft.com/office/drawing/2014/main" id="{70272885-148D-48B3-9811-BA5B87695E72}"/>
              </a:ext>
            </a:extLst>
          </p:cNvPr>
          <p:cNvSpPr>
            <a:spLocks xmlns:a="http://schemas.openxmlformats.org/drawingml/2006/main" noGrp="1"/>
          </p:cNvSpPr>
          <p:nvPr/>
        </p:nvSpPr>
        <p:spPr>
          <a:xfrm xmlns:a="http://schemas.openxmlformats.org/drawingml/2006/main">
            <a:off x="1104900" y="3000375"/>
            <a:ext cx="95250" cy="95250"/>
          </a:xfrm>
          <a:prstGeom xmlns:a="http://schemas.openxmlformats.org/drawingml/2006/main" prst="roundRect">
            <a:avLst>
              <a:gd name="adj" fmla="val 50000"/>
            </a:avLst>
          </a:prstGeom>
          <a:solidFill xmlns:a="http://schemas.openxmlformats.org/drawingml/2006/main">
            <a:srgbClr val="087F8C"/>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C8F1BF32-0970-4F0D-AC69-7C03A2523C92}"/>
              </a:ext>
            </a:extLst>
          </p:cNvPr>
          <p:cNvSpPr>
            <a:spLocks xmlns:a="http://schemas.openxmlformats.org/drawingml/2006/main" noGrp="1"/>
          </p:cNvSpPr>
          <p:nvPr/>
        </p:nvSpPr>
        <p:spPr>
          <a:xfrm xmlns:a="http://schemas.openxmlformats.org/drawingml/2006/main">
            <a:off x="1352550" y="2924175"/>
            <a:ext cx="4000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00" b="0">
                <a:solidFill>
                  <a:srgbClr val="172033"/>
                </a:solidFill>
                <a:latin typeface="Arial"/>
                <a:ea typeface="Arial"/>
                <a:cs typeface="Arial"/>
              </a:defRPr>
            </a:pPr>
            <a:r>
              <a:rPr sz="1500" b="0">
                <a:solidFill>
                  <a:srgbClr val="172033"/>
                </a:solidFill>
                <a:latin typeface="Arial"/>
                <a:ea typeface="Arial"/>
                <a:cs typeface="Arial"/>
              </a:rPr>
              <a:t>Hỏi đáp hội thoại kèm nguồn trích dẫn</a:t>
            </a:r>
          </a:p>
        </p:txBody>
      </p:sp>
      <p:sp>
        <p:nvSpPr>
          <p:cNvPr id="11" name="">
            <a:extLst xmlns:a="http://schemas.openxmlformats.org/drawingml/2006/main">
              <a:ext uri="{FF2B5EF4-FFF2-40B4-BE49-F238E27FC236}">
                <a16:creationId xmlns:a16="http://schemas.microsoft.com/office/drawing/2014/main" id="{22AE64DC-E2BE-4C3F-A86F-9E5BEF1B074A}"/>
              </a:ext>
            </a:extLst>
          </p:cNvPr>
          <p:cNvSpPr>
            <a:spLocks xmlns:a="http://schemas.openxmlformats.org/drawingml/2006/main" noGrp="1"/>
          </p:cNvSpPr>
          <p:nvPr/>
        </p:nvSpPr>
        <p:spPr>
          <a:xfrm xmlns:a="http://schemas.openxmlformats.org/drawingml/2006/main">
            <a:off x="1104900" y="3495675"/>
            <a:ext cx="95250" cy="95250"/>
          </a:xfrm>
          <a:prstGeom xmlns:a="http://schemas.openxmlformats.org/drawingml/2006/main" prst="roundRect">
            <a:avLst>
              <a:gd name="adj" fmla="val 50000"/>
            </a:avLst>
          </a:prstGeom>
          <a:solidFill xmlns:a="http://schemas.openxmlformats.org/drawingml/2006/main">
            <a:srgbClr val="087F8C"/>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0CA77D8F-CBDD-455F-B566-12109BFDAB80}"/>
              </a:ext>
            </a:extLst>
          </p:cNvPr>
          <p:cNvSpPr>
            <a:spLocks xmlns:a="http://schemas.openxmlformats.org/drawingml/2006/main" noGrp="1"/>
          </p:cNvSpPr>
          <p:nvPr/>
        </p:nvSpPr>
        <p:spPr>
          <a:xfrm xmlns:a="http://schemas.openxmlformats.org/drawingml/2006/main">
            <a:off x="1352550" y="3419475"/>
            <a:ext cx="4000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000"/>
          </a:bodyPr>
          <a:lstStyle xmlns:a="http://schemas.openxmlformats.org/drawingml/2006/main"/>
          <a:p xmlns:a="http://schemas.openxmlformats.org/drawingml/2006/main">
            <a:pPr>
              <a:defRPr sz="1500" b="0">
                <a:solidFill>
                  <a:srgbClr val="172033"/>
                </a:solidFill>
                <a:latin typeface="Arial"/>
                <a:ea typeface="Arial"/>
                <a:cs typeface="Arial"/>
              </a:defRPr>
            </a:pPr>
            <a:r>
              <a:rPr sz="1500" b="0">
                <a:solidFill>
                  <a:srgbClr val="172033"/>
                </a:solidFill>
                <a:latin typeface="Arial"/>
                <a:ea typeface="Arial"/>
                <a:cs typeface="Arial"/>
              </a:rPr>
              <a:t>Tra cứu quy định, quy chế, thủ tục và hướng dẫn học tập</a:t>
            </a:r>
          </a:p>
        </p:txBody>
      </p:sp>
      <p:sp>
        <p:nvSpPr>
          <p:cNvPr id="13" name="">
            <a:extLst xmlns:a="http://schemas.openxmlformats.org/drawingml/2006/main">
              <a:ext uri="{FF2B5EF4-FFF2-40B4-BE49-F238E27FC236}">
                <a16:creationId xmlns:a16="http://schemas.microsoft.com/office/drawing/2014/main" id="{D2D52BB6-B5EF-4D3A-AC09-739FA51B9452}"/>
              </a:ext>
            </a:extLst>
          </p:cNvPr>
          <p:cNvSpPr>
            <a:spLocks xmlns:a="http://schemas.openxmlformats.org/drawingml/2006/main" noGrp="1"/>
          </p:cNvSpPr>
          <p:nvPr/>
        </p:nvSpPr>
        <p:spPr>
          <a:xfrm xmlns:a="http://schemas.openxmlformats.org/drawingml/2006/main">
            <a:off x="1104900" y="3990975"/>
            <a:ext cx="95250" cy="95250"/>
          </a:xfrm>
          <a:prstGeom xmlns:a="http://schemas.openxmlformats.org/drawingml/2006/main" prst="roundRect">
            <a:avLst>
              <a:gd name="adj" fmla="val 50000"/>
            </a:avLst>
          </a:prstGeom>
          <a:solidFill xmlns:a="http://schemas.openxmlformats.org/drawingml/2006/main">
            <a:srgbClr val="087F8C"/>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24458FC8-4A0F-4D49-B586-214B640E5385}"/>
              </a:ext>
            </a:extLst>
          </p:cNvPr>
          <p:cNvSpPr>
            <a:spLocks xmlns:a="http://schemas.openxmlformats.org/drawingml/2006/main" noGrp="1"/>
          </p:cNvSpPr>
          <p:nvPr/>
        </p:nvSpPr>
        <p:spPr>
          <a:xfrm xmlns:a="http://schemas.openxmlformats.org/drawingml/2006/main">
            <a:off x="1352550" y="3914775"/>
            <a:ext cx="4000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7692"/>
          </a:bodyPr>
          <a:lstStyle xmlns:a="http://schemas.openxmlformats.org/drawingml/2006/main"/>
          <a:p xmlns:a="http://schemas.openxmlformats.org/drawingml/2006/main">
            <a:pPr>
              <a:defRPr sz="1500" b="0">
                <a:solidFill>
                  <a:srgbClr val="172033"/>
                </a:solidFill>
                <a:latin typeface="Arial"/>
                <a:ea typeface="Arial"/>
                <a:cs typeface="Arial"/>
              </a:defRPr>
            </a:pPr>
            <a:r>
              <a:rPr sz="1500" b="0">
                <a:solidFill>
                  <a:srgbClr val="172033"/>
                </a:solidFill>
                <a:latin typeface="Arial"/>
                <a:ea typeface="Arial"/>
                <a:cs typeface="Arial"/>
              </a:rPr>
              <a:t>Phân quyền giữa sinh viên và người quản lý tài liệu</a:t>
            </a:r>
          </a:p>
        </p:txBody>
      </p:sp>
      <p:sp>
        <p:nvSpPr>
          <p:cNvPr id="15" name="">
            <a:extLst xmlns:a="http://schemas.openxmlformats.org/drawingml/2006/main">
              <a:ext uri="{FF2B5EF4-FFF2-40B4-BE49-F238E27FC236}">
                <a16:creationId xmlns:a16="http://schemas.microsoft.com/office/drawing/2014/main" id="{A3DB6E2A-051E-4A65-A225-2D8A875D18B0}"/>
              </a:ext>
            </a:extLst>
          </p:cNvPr>
          <p:cNvSpPr>
            <a:spLocks xmlns:a="http://schemas.openxmlformats.org/drawingml/2006/main" noGrp="1"/>
          </p:cNvSpPr>
          <p:nvPr/>
        </p:nvSpPr>
        <p:spPr>
          <a:xfrm xmlns:a="http://schemas.openxmlformats.org/drawingml/2006/main">
            <a:off x="6686550" y="1790700"/>
            <a:ext cx="4095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8889"/>
          </a:bodyPr>
          <a:lstStyle xmlns:a="http://schemas.openxmlformats.org/drawingml/2006/main"/>
          <a:p xmlns:a="http://schemas.openxmlformats.org/drawingml/2006/main">
            <a:pPr>
              <a:defRPr sz="2250" b="1">
                <a:solidFill>
                  <a:srgbClr val="C92A2A"/>
                </a:solidFill>
                <a:latin typeface="Arial"/>
                <a:ea typeface="Arial"/>
                <a:cs typeface="Arial"/>
              </a:defRPr>
            </a:pPr>
            <a:r>
              <a:rPr sz="2250" b="1">
                <a:solidFill>
                  <a:srgbClr val="C92A2A"/>
                </a:solidFill>
                <a:latin typeface="Arial"/>
                <a:ea typeface="Arial"/>
                <a:cs typeface="Arial"/>
              </a:rPr>
              <a:t>Ngoài phạm vi</a:t>
            </a:r>
          </a:p>
        </p:txBody>
      </p:sp>
      <p:sp>
        <p:nvSpPr>
          <p:cNvPr id="16" name="">
            <a:extLst xmlns:a="http://schemas.openxmlformats.org/drawingml/2006/main">
              <a:ext uri="{FF2B5EF4-FFF2-40B4-BE49-F238E27FC236}">
                <a16:creationId xmlns:a16="http://schemas.microsoft.com/office/drawing/2014/main" id="{9C3B7A74-C1E0-4E99-9E16-B68DB54CD914}"/>
              </a:ext>
            </a:extLst>
          </p:cNvPr>
          <p:cNvSpPr>
            <a:spLocks xmlns:a="http://schemas.openxmlformats.org/drawingml/2006/main" noGrp="1"/>
          </p:cNvSpPr>
          <p:nvPr/>
        </p:nvSpPr>
        <p:spPr>
          <a:xfrm xmlns:a="http://schemas.openxmlformats.org/drawingml/2006/main">
            <a:off x="6724650" y="2505075"/>
            <a:ext cx="95250" cy="95250"/>
          </a:xfrm>
          <a:prstGeom xmlns:a="http://schemas.openxmlformats.org/drawingml/2006/main" prst="roundRect">
            <a:avLst>
              <a:gd name="adj" fmla="val 50000"/>
            </a:avLst>
          </a:prstGeom>
          <a:solidFill xmlns:a="http://schemas.openxmlformats.org/drawingml/2006/main">
            <a:srgbClr val="087F8C"/>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2E70EA78-CE0F-4346-8C41-D5F3104A28BC}"/>
              </a:ext>
            </a:extLst>
          </p:cNvPr>
          <p:cNvSpPr>
            <a:spLocks xmlns:a="http://schemas.openxmlformats.org/drawingml/2006/main" noGrp="1"/>
          </p:cNvSpPr>
          <p:nvPr/>
        </p:nvSpPr>
        <p:spPr>
          <a:xfrm xmlns:a="http://schemas.openxmlformats.org/drawingml/2006/main">
            <a:off x="6972300" y="2428875"/>
            <a:ext cx="4000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8452"/>
          </a:bodyPr>
          <a:lstStyle xmlns:a="http://schemas.openxmlformats.org/drawingml/2006/main"/>
          <a:p xmlns:a="http://schemas.openxmlformats.org/drawingml/2006/main">
            <a:pPr>
              <a:defRPr sz="1500" b="0">
                <a:solidFill>
                  <a:srgbClr val="172033"/>
                </a:solidFill>
                <a:latin typeface="Arial"/>
                <a:ea typeface="Arial"/>
                <a:cs typeface="Arial"/>
              </a:defRPr>
            </a:pPr>
            <a:r>
              <a:rPr sz="1500" b="0">
                <a:solidFill>
                  <a:srgbClr val="172033"/>
                </a:solidFill>
                <a:latin typeface="Arial"/>
                <a:ea typeface="Arial"/>
                <a:cs typeface="Arial"/>
              </a:rPr>
              <a:t>Điểm số, tín chỉ, học phí, lịch thi và dữ liệu cá nhân</a:t>
            </a:r>
          </a:p>
        </p:txBody>
      </p:sp>
      <p:sp>
        <p:nvSpPr>
          <p:cNvPr id="18" name="">
            <a:extLst xmlns:a="http://schemas.openxmlformats.org/drawingml/2006/main">
              <a:ext uri="{FF2B5EF4-FFF2-40B4-BE49-F238E27FC236}">
                <a16:creationId xmlns:a16="http://schemas.microsoft.com/office/drawing/2014/main" id="{857D50C1-FEEC-4C8F-A0F9-F151EBF37272}"/>
              </a:ext>
            </a:extLst>
          </p:cNvPr>
          <p:cNvSpPr>
            <a:spLocks xmlns:a="http://schemas.openxmlformats.org/drawingml/2006/main" noGrp="1"/>
          </p:cNvSpPr>
          <p:nvPr/>
        </p:nvSpPr>
        <p:spPr>
          <a:xfrm xmlns:a="http://schemas.openxmlformats.org/drawingml/2006/main">
            <a:off x="6724650" y="3000375"/>
            <a:ext cx="95250" cy="95250"/>
          </a:xfrm>
          <a:prstGeom xmlns:a="http://schemas.openxmlformats.org/drawingml/2006/main" prst="roundRect">
            <a:avLst>
              <a:gd name="adj" fmla="val 50000"/>
            </a:avLst>
          </a:prstGeom>
          <a:solidFill xmlns:a="http://schemas.openxmlformats.org/drawingml/2006/main">
            <a:srgbClr val="087F8C"/>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4A89567B-DD1B-484A-86FD-6BE932583AE3}"/>
              </a:ext>
            </a:extLst>
          </p:cNvPr>
          <p:cNvSpPr>
            <a:spLocks xmlns:a="http://schemas.openxmlformats.org/drawingml/2006/main" noGrp="1"/>
          </p:cNvSpPr>
          <p:nvPr/>
        </p:nvSpPr>
        <p:spPr>
          <a:xfrm xmlns:a="http://schemas.openxmlformats.org/drawingml/2006/main">
            <a:off x="6972300" y="2924175"/>
            <a:ext cx="4000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6622"/>
          </a:bodyPr>
          <a:lstStyle xmlns:a="http://schemas.openxmlformats.org/drawingml/2006/main"/>
          <a:p xmlns:a="http://schemas.openxmlformats.org/drawingml/2006/main">
            <a:pPr>
              <a:defRPr sz="1500" b="0">
                <a:solidFill>
                  <a:srgbClr val="172033"/>
                </a:solidFill>
                <a:latin typeface="Arial"/>
                <a:ea typeface="Arial"/>
                <a:cs typeface="Arial"/>
              </a:defRPr>
            </a:pPr>
            <a:r>
              <a:rPr sz="1500" b="0">
                <a:solidFill>
                  <a:srgbClr val="172033"/>
                </a:solidFill>
                <a:latin typeface="Arial"/>
                <a:ea typeface="Arial"/>
                <a:cs typeface="Arial"/>
              </a:rPr>
              <a:t>Thay thế quyết định chính thức của phòng ban</a:t>
            </a:r>
          </a:p>
        </p:txBody>
      </p:sp>
      <p:sp>
        <p:nvSpPr>
          <p:cNvPr id="20" name="">
            <a:extLst xmlns:a="http://schemas.openxmlformats.org/drawingml/2006/main">
              <a:ext uri="{FF2B5EF4-FFF2-40B4-BE49-F238E27FC236}">
                <a16:creationId xmlns:a16="http://schemas.microsoft.com/office/drawing/2014/main" id="{442B2629-7D47-43BD-BF2B-5ADC732F5A97}"/>
              </a:ext>
            </a:extLst>
          </p:cNvPr>
          <p:cNvSpPr>
            <a:spLocks xmlns:a="http://schemas.openxmlformats.org/drawingml/2006/main" noGrp="1"/>
          </p:cNvSpPr>
          <p:nvPr/>
        </p:nvSpPr>
        <p:spPr>
          <a:xfrm xmlns:a="http://schemas.openxmlformats.org/drawingml/2006/main">
            <a:off x="6724650" y="3495675"/>
            <a:ext cx="95250" cy="95250"/>
          </a:xfrm>
          <a:prstGeom xmlns:a="http://schemas.openxmlformats.org/drawingml/2006/main" prst="roundRect">
            <a:avLst>
              <a:gd name="adj" fmla="val 50000"/>
            </a:avLst>
          </a:prstGeom>
          <a:solidFill xmlns:a="http://schemas.openxmlformats.org/drawingml/2006/main">
            <a:srgbClr val="087F8C"/>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E236BEDB-5D95-4E8E-9ABF-AA7B1F347B2A}"/>
              </a:ext>
            </a:extLst>
          </p:cNvPr>
          <p:cNvSpPr>
            <a:spLocks xmlns:a="http://schemas.openxmlformats.org/drawingml/2006/main" noGrp="1"/>
          </p:cNvSpPr>
          <p:nvPr/>
        </p:nvSpPr>
        <p:spPr>
          <a:xfrm xmlns:a="http://schemas.openxmlformats.org/drawingml/2006/main">
            <a:off x="6972300" y="3419475"/>
            <a:ext cx="4000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4667"/>
          </a:bodyPr>
          <a:lstStyle xmlns:a="http://schemas.openxmlformats.org/drawingml/2006/main"/>
          <a:p xmlns:a="http://schemas.openxmlformats.org/drawingml/2006/main">
            <a:pPr>
              <a:defRPr sz="1500" b="0">
                <a:solidFill>
                  <a:srgbClr val="172033"/>
                </a:solidFill>
                <a:latin typeface="Arial"/>
                <a:ea typeface="Arial"/>
                <a:cs typeface="Arial"/>
              </a:defRPr>
            </a:pPr>
            <a:r>
              <a:rPr sz="1500" b="0">
                <a:solidFill>
                  <a:srgbClr val="172033"/>
                </a:solidFill>
                <a:latin typeface="Arial"/>
                <a:ea typeface="Arial"/>
                <a:cs typeface="Arial"/>
              </a:rPr>
              <a:t>Chatbot tuyển sinh hoặc tư vấn ngoài phạm vi học vụ</a:t>
            </a:r>
          </a:p>
        </p:txBody>
      </p:sp>
      <p:sp>
        <p:nvSpPr>
          <p:cNvPr id="22" name="">
            <a:extLst xmlns:a="http://schemas.openxmlformats.org/drawingml/2006/main">
              <a:ext uri="{FF2B5EF4-FFF2-40B4-BE49-F238E27FC236}">
                <a16:creationId xmlns:a16="http://schemas.microsoft.com/office/drawing/2014/main" id="{13C4275B-AF04-4919-8246-C2EE9DE87BDA}"/>
              </a:ext>
            </a:extLst>
          </p:cNvPr>
          <p:cNvSpPr>
            <a:spLocks xmlns:a="http://schemas.openxmlformats.org/drawingml/2006/main" noGrp="1"/>
          </p:cNvSpPr>
          <p:nvPr/>
        </p:nvSpPr>
        <p:spPr>
          <a:xfrm xmlns:a="http://schemas.openxmlformats.org/drawingml/2006/main">
            <a:off x="6724650" y="3990975"/>
            <a:ext cx="95250" cy="95250"/>
          </a:xfrm>
          <a:prstGeom xmlns:a="http://schemas.openxmlformats.org/drawingml/2006/main" prst="roundRect">
            <a:avLst>
              <a:gd name="adj" fmla="val 50000"/>
            </a:avLst>
          </a:prstGeom>
          <a:solidFill xmlns:a="http://schemas.openxmlformats.org/drawingml/2006/main">
            <a:srgbClr val="087F8C"/>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BB93EE2C-8095-41B6-B775-FD3CC0EDD894}"/>
              </a:ext>
            </a:extLst>
          </p:cNvPr>
          <p:cNvSpPr>
            <a:spLocks xmlns:a="http://schemas.openxmlformats.org/drawingml/2006/main" noGrp="1"/>
          </p:cNvSpPr>
          <p:nvPr/>
        </p:nvSpPr>
        <p:spPr>
          <a:xfrm xmlns:a="http://schemas.openxmlformats.org/drawingml/2006/main">
            <a:off x="6972300" y="3914775"/>
            <a:ext cx="4000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00" b="0">
                <a:solidFill>
                  <a:srgbClr val="172033"/>
                </a:solidFill>
                <a:latin typeface="Arial"/>
                <a:ea typeface="Arial"/>
                <a:cs typeface="Arial"/>
              </a:defRPr>
            </a:pPr>
            <a:r>
              <a:rPr sz="1500" b="0">
                <a:solidFill>
                  <a:srgbClr val="172033"/>
                </a:solidFill>
                <a:latin typeface="Arial"/>
                <a:ea typeface="Arial"/>
                <a:cs typeface="Arial"/>
              </a:rPr>
              <a:t>Tài liệu scan cần nhận dạng ký tự tự động</a:t>
            </a:r>
          </a:p>
        </p:txBody>
      </p:sp>
    </p:spTree>
    <p:extLst>
      <p:ext uri="{BB962C8B-B14F-4D97-AF65-F5344CB8AC3E}">
        <p14:creationId xmlns:p14="http://schemas.microsoft.com/office/powerpoint/2010/main" val="1629099929"/>
      </p:ext>
    </p:extLst>
  </p:cSld>
</p:sld>
</file>

<file path=ppt/slides/slide6.xml><?xml version="1.0" encoding="utf-8"?>
<p:sld xmlns:p="http://schemas.openxmlformats.org/presentationml/2006/main">
  <p:cSld>
    <p:bg>
      <p:bgPr>
        <a:solidFill xmlns:a="http://schemas.openxmlformats.org/drawingml/2006/main">
          <a:srgbClr val="F7F8F5"/>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F787C2F9-6F52-4695-87F1-79CDB414D58D}"/>
              </a:ext>
            </a:extLst>
          </p:cNvPr>
          <p:cNvSpPr>
            <a:spLocks xmlns:a="http://schemas.openxmlformats.org/drawingml/2006/main" noGrp="1"/>
          </p:cNvSpPr>
          <p:nvPr/>
        </p:nvSpPr>
        <p:spPr>
          <a:xfrm xmlns:a="http://schemas.openxmlformats.org/drawingml/2006/main">
            <a:off x="0" y="0"/>
            <a:ext cx="12192000" cy="171450"/>
          </a:xfrm>
          <a:prstGeom xmlns:a="http://schemas.openxmlformats.org/drawingml/2006/main" prst="rect">
            <a:avLst/>
          </a:prstGeom>
          <a:solidFill xmlns:a="http://schemas.openxmlformats.org/drawingml/2006/main">
            <a:srgbClr val="087F8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FA08D3B-3742-4803-88AA-D72BEA94CD9C}"/>
              </a:ext>
            </a:extLst>
          </p:cNvPr>
          <p:cNvSpPr>
            <a:spLocks xmlns:a="http://schemas.openxmlformats.org/drawingml/2006/main" noGrp="1"/>
          </p:cNvSpPr>
          <p:nvPr/>
        </p:nvSpPr>
        <p:spPr>
          <a:xfrm xmlns:a="http://schemas.openxmlformats.org/drawingml/2006/main">
            <a:off x="685800" y="49530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700" b="1">
                <a:solidFill>
                  <a:srgbClr val="102A43"/>
                </a:solidFill>
                <a:latin typeface="Arial"/>
                <a:ea typeface="Arial"/>
                <a:cs typeface="Arial"/>
              </a:defRPr>
            </a:pPr>
            <a:r>
              <a:rPr sz="2700" b="1">
                <a:solidFill>
                  <a:srgbClr val="102A43"/>
                </a:solidFill>
                <a:latin typeface="Arial"/>
                <a:ea typeface="Arial"/>
                <a:cs typeface="Arial"/>
              </a:rPr>
              <a:t>Người dùng và quyền truy cập</a:t>
            </a:r>
          </a:p>
        </p:txBody>
      </p:sp>
      <p:sp>
        <p:nvSpPr>
          <p:cNvPr id="3" name="">
            <a:extLst xmlns:a="http://schemas.openxmlformats.org/drawingml/2006/main">
              <a:ext uri="{FF2B5EF4-FFF2-40B4-BE49-F238E27FC236}">
                <a16:creationId xmlns:a16="http://schemas.microsoft.com/office/drawing/2014/main" id="{1BE22C7B-0289-462A-B883-34D9FC5357B9}"/>
              </a:ext>
            </a:extLst>
          </p:cNvPr>
          <p:cNvSpPr>
            <a:spLocks xmlns:a="http://schemas.openxmlformats.org/drawingml/2006/main" noGrp="1"/>
          </p:cNvSpPr>
          <p:nvPr/>
        </p:nvSpPr>
        <p:spPr>
          <a:xfrm xmlns:a="http://schemas.openxmlformats.org/drawingml/2006/main">
            <a:off x="685800" y="6305550"/>
            <a:ext cx="400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714"/>
          </a:bodyPr>
          <a:lstStyle xmlns:a="http://schemas.openxmlformats.org/drawingml/2006/main"/>
          <a:p xmlns:a="http://schemas.openxmlformats.org/drawingml/2006/main">
            <a:pPr>
              <a:defRPr sz="1050" b="0">
                <a:solidFill>
                  <a:srgbClr val="586273"/>
                </a:solidFill>
                <a:latin typeface="Arial"/>
                <a:ea typeface="Arial"/>
                <a:cs typeface="Arial"/>
              </a:defRPr>
            </a:pPr>
            <a:r>
              <a:rPr sz="1050" b="0">
                <a:solidFill>
                  <a:srgbClr val="586273"/>
                </a:solidFill>
                <a:latin typeface="Arial"/>
                <a:ea typeface="Arial"/>
                <a:cs typeface="Arial"/>
              </a:rPr>
              <a:t>Báo cáo dự án Tàng Thư</a:t>
            </a:r>
          </a:p>
        </p:txBody>
      </p:sp>
      <p:sp>
        <p:nvSpPr>
          <p:cNvPr id="4" name="">
            <a:extLst xmlns:a="http://schemas.openxmlformats.org/drawingml/2006/main">
              <a:ext uri="{FF2B5EF4-FFF2-40B4-BE49-F238E27FC236}">
                <a16:creationId xmlns:a16="http://schemas.microsoft.com/office/drawing/2014/main" id="{A5FEA1CE-2201-4B0E-B998-FE3DB5C28A8A}"/>
              </a:ext>
            </a:extLst>
          </p:cNvPr>
          <p:cNvSpPr>
            <a:spLocks xmlns:a="http://schemas.openxmlformats.org/drawingml/2006/main" noGrp="1"/>
          </p:cNvSpPr>
          <p:nvPr/>
        </p:nvSpPr>
        <p:spPr>
          <a:xfrm xmlns:a="http://schemas.openxmlformats.org/drawingml/2006/main">
            <a:off x="857250" y="1524000"/>
            <a:ext cx="4762500" cy="1200150"/>
          </a:xfrm>
          <a:prstGeom xmlns:a="http://schemas.openxmlformats.org/drawingml/2006/main" prst="roundRect">
            <a:avLst>
              <a:gd name="adj" fmla="val 6349"/>
            </a:avLst>
          </a:prstGeom>
          <a:solidFill xmlns:a="http://schemas.openxmlformats.org/drawingml/2006/main">
            <a:srgbClr val="E7F5FF"/>
          </a:solidFill>
          <a:ln xmlns:a="http://schemas.openxmlformats.org/drawingml/2006/main" w="11430">
            <a:solidFill>
              <a:srgbClr val="087F8C"/>
            </a:solidFill>
            <a:prstDash val="solid"/>
          </a:ln>
        </p:spPr>
      </p:sp>
      <p:sp>
        <p:nvSpPr>
          <p:cNvPr id="5" name="">
            <a:extLst xmlns:a="http://schemas.openxmlformats.org/drawingml/2006/main">
              <a:ext uri="{FF2B5EF4-FFF2-40B4-BE49-F238E27FC236}">
                <a16:creationId xmlns:a16="http://schemas.microsoft.com/office/drawing/2014/main" id="{03C9FFD4-6AF4-4CF4-B7E3-4946EB319B57}"/>
              </a:ext>
            </a:extLst>
          </p:cNvPr>
          <p:cNvSpPr>
            <a:spLocks xmlns:a="http://schemas.openxmlformats.org/drawingml/2006/main" noGrp="1"/>
          </p:cNvSpPr>
          <p:nvPr/>
        </p:nvSpPr>
        <p:spPr>
          <a:xfrm xmlns:a="http://schemas.openxmlformats.org/drawingml/2006/main">
            <a:off x="1066800" y="1714500"/>
            <a:ext cx="4343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392"/>
          </a:bodyPr>
          <a:lstStyle xmlns:a="http://schemas.openxmlformats.org/drawingml/2006/main"/>
          <a:p xmlns:a="http://schemas.openxmlformats.org/drawingml/2006/main">
            <a:pPr>
              <a:defRPr sz="1275" b="1">
                <a:solidFill>
                  <a:srgbClr val="087F8C"/>
                </a:solidFill>
                <a:latin typeface="Arial"/>
                <a:ea typeface="Arial"/>
                <a:cs typeface="Arial"/>
              </a:defRPr>
            </a:pPr>
            <a:r>
              <a:rPr sz="1275" b="1">
                <a:solidFill>
                  <a:srgbClr val="087F8C"/>
                </a:solidFill>
                <a:latin typeface="Arial"/>
                <a:ea typeface="Arial"/>
                <a:cs typeface="Arial"/>
              </a:rPr>
              <a:t>Sinh viên</a:t>
            </a:r>
          </a:p>
        </p:txBody>
      </p:sp>
      <p:sp>
        <p:nvSpPr>
          <p:cNvPr id="6" name="">
            <a:extLst xmlns:a="http://schemas.openxmlformats.org/drawingml/2006/main">
              <a:ext uri="{FF2B5EF4-FFF2-40B4-BE49-F238E27FC236}">
                <a16:creationId xmlns:a16="http://schemas.microsoft.com/office/drawing/2014/main" id="{7AFDF8D1-4638-43F7-9782-18FF0FF8204D}"/>
              </a:ext>
            </a:extLst>
          </p:cNvPr>
          <p:cNvSpPr>
            <a:spLocks xmlns:a="http://schemas.openxmlformats.org/drawingml/2006/main" noGrp="1"/>
          </p:cNvSpPr>
          <p:nvPr/>
        </p:nvSpPr>
        <p:spPr>
          <a:xfrm xmlns:a="http://schemas.openxmlformats.org/drawingml/2006/main">
            <a:off x="1066800" y="2019300"/>
            <a:ext cx="43434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4058"/>
          </a:bodyPr>
          <a:lstStyle xmlns:a="http://schemas.openxmlformats.org/drawingml/2006/main"/>
          <a:p xmlns:a="http://schemas.openxmlformats.org/drawingml/2006/main">
            <a:pPr>
              <a:defRPr sz="1725" b="1">
                <a:solidFill>
                  <a:srgbClr val="172033"/>
                </a:solidFill>
                <a:latin typeface="Arial"/>
                <a:ea typeface="Arial"/>
                <a:cs typeface="Arial"/>
              </a:defRPr>
            </a:pPr>
            <a:r>
              <a:rPr sz="1725" b="1">
                <a:solidFill>
                  <a:srgbClr val="172033"/>
                </a:solidFill>
                <a:latin typeface="Arial"/>
                <a:ea typeface="Arial"/>
                <a:cs typeface="Arial"/>
              </a:rPr>
              <a:t>Hỏi đáp và tra cứu tài liệu thuộc khoa của mình cùng tài liệu toàn trường</a:t>
            </a:r>
          </a:p>
        </p:txBody>
      </p:sp>
      <p:sp>
        <p:nvSpPr>
          <p:cNvPr id="7" name="">
            <a:extLst xmlns:a="http://schemas.openxmlformats.org/drawingml/2006/main">
              <a:ext uri="{FF2B5EF4-FFF2-40B4-BE49-F238E27FC236}">
                <a16:creationId xmlns:a16="http://schemas.microsoft.com/office/drawing/2014/main" id="{614F9B7D-5812-4859-A94D-E438ED6A1D16}"/>
              </a:ext>
            </a:extLst>
          </p:cNvPr>
          <p:cNvSpPr>
            <a:spLocks xmlns:a="http://schemas.openxmlformats.org/drawingml/2006/main" noGrp="1"/>
          </p:cNvSpPr>
          <p:nvPr/>
        </p:nvSpPr>
        <p:spPr>
          <a:xfrm xmlns:a="http://schemas.openxmlformats.org/drawingml/2006/main">
            <a:off x="6572250" y="1524000"/>
            <a:ext cx="4762500" cy="1200150"/>
          </a:xfrm>
          <a:prstGeom xmlns:a="http://schemas.openxmlformats.org/drawingml/2006/main" prst="roundRect">
            <a:avLst>
              <a:gd name="adj" fmla="val 6349"/>
            </a:avLst>
          </a:prstGeom>
          <a:solidFill xmlns:a="http://schemas.openxmlformats.org/drawingml/2006/main">
            <a:srgbClr val="FFF4D6"/>
          </a:solidFill>
          <a:ln xmlns:a="http://schemas.openxmlformats.org/drawingml/2006/main" w="11430">
            <a:solidFill>
              <a:srgbClr val="F59F00"/>
            </a:solidFill>
            <a:prstDash val="solid"/>
          </a:ln>
        </p:spPr>
      </p:sp>
      <p:sp>
        <p:nvSpPr>
          <p:cNvPr id="8" name="">
            <a:extLst xmlns:a="http://schemas.openxmlformats.org/drawingml/2006/main">
              <a:ext uri="{FF2B5EF4-FFF2-40B4-BE49-F238E27FC236}">
                <a16:creationId xmlns:a16="http://schemas.microsoft.com/office/drawing/2014/main" id="{26E76A9A-3EA5-4FEB-864C-D38A47F3C412}"/>
              </a:ext>
            </a:extLst>
          </p:cNvPr>
          <p:cNvSpPr>
            <a:spLocks xmlns:a="http://schemas.openxmlformats.org/drawingml/2006/main" noGrp="1"/>
          </p:cNvSpPr>
          <p:nvPr/>
        </p:nvSpPr>
        <p:spPr>
          <a:xfrm xmlns:a="http://schemas.openxmlformats.org/drawingml/2006/main">
            <a:off x="6781800" y="1714500"/>
            <a:ext cx="4343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392"/>
          </a:bodyPr>
          <a:lstStyle xmlns:a="http://schemas.openxmlformats.org/drawingml/2006/main"/>
          <a:p xmlns:a="http://schemas.openxmlformats.org/drawingml/2006/main">
            <a:pPr>
              <a:defRPr sz="1275" b="1">
                <a:solidFill>
                  <a:srgbClr val="F59F00"/>
                </a:solidFill>
                <a:latin typeface="Arial"/>
                <a:ea typeface="Arial"/>
                <a:cs typeface="Arial"/>
              </a:defRPr>
            </a:pPr>
            <a:r>
              <a:rPr sz="1275" b="1">
                <a:solidFill>
                  <a:srgbClr val="F59F00"/>
                </a:solidFill>
                <a:latin typeface="Arial"/>
                <a:ea typeface="Arial"/>
                <a:cs typeface="Arial"/>
              </a:rPr>
              <a:t>Quản trị viên</a:t>
            </a:r>
          </a:p>
        </p:txBody>
      </p:sp>
      <p:sp>
        <p:nvSpPr>
          <p:cNvPr id="9" name="">
            <a:extLst xmlns:a="http://schemas.openxmlformats.org/drawingml/2006/main">
              <a:ext uri="{FF2B5EF4-FFF2-40B4-BE49-F238E27FC236}">
                <a16:creationId xmlns:a16="http://schemas.microsoft.com/office/drawing/2014/main" id="{8DB31D7D-F926-4767-BDAC-FA3C79AC4F5D}"/>
              </a:ext>
            </a:extLst>
          </p:cNvPr>
          <p:cNvSpPr>
            <a:spLocks xmlns:a="http://schemas.openxmlformats.org/drawingml/2006/main" noGrp="1"/>
          </p:cNvSpPr>
          <p:nvPr/>
        </p:nvSpPr>
        <p:spPr>
          <a:xfrm xmlns:a="http://schemas.openxmlformats.org/drawingml/2006/main">
            <a:off x="6781800" y="2019300"/>
            <a:ext cx="43434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4058"/>
          </a:bodyPr>
          <a:lstStyle xmlns:a="http://schemas.openxmlformats.org/drawingml/2006/main"/>
          <a:p xmlns:a="http://schemas.openxmlformats.org/drawingml/2006/main">
            <a:pPr>
              <a:defRPr sz="1725" b="1">
                <a:solidFill>
                  <a:srgbClr val="172033"/>
                </a:solidFill>
                <a:latin typeface="Arial"/>
                <a:ea typeface="Arial"/>
                <a:cs typeface="Arial"/>
              </a:defRPr>
            </a:pPr>
            <a:r>
              <a:rPr sz="1725" b="1">
                <a:solidFill>
                  <a:srgbClr val="172033"/>
                </a:solidFill>
                <a:latin typeface="Arial"/>
                <a:ea typeface="Arial"/>
                <a:cs typeface="Arial"/>
              </a:rPr>
              <a:t>Upload, cập nhật tài liệu, quản lý người dùng và đơn vị trong phạm vi được giao</a:t>
            </a:r>
          </a:p>
        </p:txBody>
      </p:sp>
      <p:sp>
        <p:nvSpPr>
          <p:cNvPr id="10" name="">
            <a:extLst xmlns:a="http://schemas.openxmlformats.org/drawingml/2006/main">
              <a:ext uri="{FF2B5EF4-FFF2-40B4-BE49-F238E27FC236}">
                <a16:creationId xmlns:a16="http://schemas.microsoft.com/office/drawing/2014/main" id="{940935DD-F802-417B-8247-7F9EB21D5E9B}"/>
              </a:ext>
            </a:extLst>
          </p:cNvPr>
          <p:cNvSpPr>
            <a:spLocks xmlns:a="http://schemas.openxmlformats.org/drawingml/2006/main" noGrp="1"/>
          </p:cNvSpPr>
          <p:nvPr/>
        </p:nvSpPr>
        <p:spPr>
          <a:xfrm xmlns:a="http://schemas.openxmlformats.org/drawingml/2006/main">
            <a:off x="1524000" y="3619500"/>
            <a:ext cx="9144000" cy="1143000"/>
          </a:xfrm>
          <a:prstGeom xmlns:a="http://schemas.openxmlformats.org/drawingml/2006/main" prst="roundRect">
            <a:avLst>
              <a:gd name="adj" fmla="val 6667"/>
            </a:avLst>
          </a:prstGeom>
          <a:solidFill xmlns:a="http://schemas.openxmlformats.org/drawingml/2006/main">
            <a:srgbClr val="FFFFFF"/>
          </a:solidFill>
          <a:ln xmlns:a="http://schemas.openxmlformats.org/drawingml/2006/main" w="9525">
            <a:solidFill>
              <a:srgbClr val="D7DCE3"/>
            </a:solidFill>
            <a:prstDash val="solid"/>
          </a:ln>
        </p:spPr>
      </p:sp>
      <p:sp>
        <p:nvSpPr>
          <p:cNvPr id="11" name="">
            <a:extLst xmlns:a="http://schemas.openxmlformats.org/drawingml/2006/main">
              <a:ext uri="{FF2B5EF4-FFF2-40B4-BE49-F238E27FC236}">
                <a16:creationId xmlns:a16="http://schemas.microsoft.com/office/drawing/2014/main" id="{FBCDB2E0-45C5-4583-9F82-267B5D56D727}"/>
              </a:ext>
            </a:extLst>
          </p:cNvPr>
          <p:cNvSpPr>
            <a:spLocks xmlns:a="http://schemas.openxmlformats.org/drawingml/2006/main" noGrp="1"/>
          </p:cNvSpPr>
          <p:nvPr/>
        </p:nvSpPr>
        <p:spPr>
          <a:xfrm xmlns:a="http://schemas.openxmlformats.org/drawingml/2006/main">
            <a:off x="1924050" y="3857625"/>
            <a:ext cx="342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7778"/>
          </a:bodyPr>
          <a:lstStyle xmlns:a="http://schemas.openxmlformats.org/drawingml/2006/main"/>
          <a:p xmlns:a="http://schemas.openxmlformats.org/drawingml/2006/main">
            <a:pPr>
              <a:defRPr sz="1800" b="1">
                <a:solidFill>
                  <a:srgbClr val="102A43"/>
                </a:solidFill>
                <a:latin typeface="Arial"/>
                <a:ea typeface="Arial"/>
                <a:cs typeface="Arial"/>
              </a:defRPr>
            </a:pPr>
            <a:r>
              <a:rPr sz="1800" b="1">
                <a:solidFill>
                  <a:srgbClr val="102A43"/>
                </a:solidFill>
                <a:latin typeface="Arial"/>
                <a:ea typeface="Arial"/>
                <a:cs typeface="Arial"/>
              </a:rPr>
              <a:t>Nguyên tắc phân quyền</a:t>
            </a:r>
          </a:p>
        </p:txBody>
      </p:sp>
      <p:sp>
        <p:nvSpPr>
          <p:cNvPr id="12" name="">
            <a:extLst xmlns:a="http://schemas.openxmlformats.org/drawingml/2006/main">
              <a:ext uri="{FF2B5EF4-FFF2-40B4-BE49-F238E27FC236}">
                <a16:creationId xmlns:a16="http://schemas.microsoft.com/office/drawing/2014/main" id="{BB3F01C0-ECDB-4DFC-B4C7-13F59ADE4B76}"/>
              </a:ext>
            </a:extLst>
          </p:cNvPr>
          <p:cNvSpPr>
            <a:spLocks xmlns:a="http://schemas.openxmlformats.org/drawingml/2006/main" noGrp="1"/>
          </p:cNvSpPr>
          <p:nvPr/>
        </p:nvSpPr>
        <p:spPr>
          <a:xfrm xmlns:a="http://schemas.openxmlformats.org/drawingml/2006/main">
            <a:off x="1924050" y="4286250"/>
            <a:ext cx="8096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7262"/>
          </a:bodyPr>
          <a:lstStyle xmlns:a="http://schemas.openxmlformats.org/drawingml/2006/main"/>
          <a:p xmlns:a="http://schemas.openxmlformats.org/drawingml/2006/main">
            <a:pPr>
              <a:defRPr sz="1875" b="0">
                <a:solidFill>
                  <a:srgbClr val="172033"/>
                </a:solidFill>
                <a:latin typeface="Arial"/>
                <a:ea typeface="Arial"/>
                <a:cs typeface="Arial"/>
              </a:defRPr>
            </a:pPr>
            <a:r>
              <a:rPr sz="1875" b="0">
                <a:solidFill>
                  <a:srgbClr val="172033"/>
                </a:solidFill>
                <a:latin typeface="Arial"/>
                <a:ea typeface="Arial"/>
                <a:cs typeface="Arial"/>
              </a:rPr>
              <a:t>Vai trò quyết định người dùng được làm gì. Đơn vị quyết định người dùng được thấy dữ liệu nào.</a:t>
            </a:r>
          </a:p>
        </p:txBody>
      </p:sp>
    </p:spTree>
    <p:extLst>
      <p:ext uri="{BB962C8B-B14F-4D97-AF65-F5344CB8AC3E}">
        <p14:creationId xmlns:p14="http://schemas.microsoft.com/office/powerpoint/2010/main" val="967836436"/>
      </p:ext>
    </p:extLst>
  </p:cSld>
</p:sld>
</file>

<file path=ppt/slides/slide7.xml><?xml version="1.0" encoding="utf-8"?>
<p:sld xmlns:p="http://schemas.openxmlformats.org/presentationml/2006/main">
  <p:cSld>
    <p:bg>
      <p:bgPr>
        <a:solidFill xmlns:a="http://schemas.openxmlformats.org/drawingml/2006/main">
          <a:srgbClr val="F7F8F5"/>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2F13B052-C94B-44B9-AABE-2180891A8597}"/>
              </a:ext>
            </a:extLst>
          </p:cNvPr>
          <p:cNvSpPr>
            <a:spLocks xmlns:a="http://schemas.openxmlformats.org/drawingml/2006/main" noGrp="1"/>
          </p:cNvSpPr>
          <p:nvPr/>
        </p:nvSpPr>
        <p:spPr>
          <a:xfrm xmlns:a="http://schemas.openxmlformats.org/drawingml/2006/main">
            <a:off x="0" y="0"/>
            <a:ext cx="12192000" cy="171450"/>
          </a:xfrm>
          <a:prstGeom xmlns:a="http://schemas.openxmlformats.org/drawingml/2006/main" prst="rect">
            <a:avLst/>
          </a:prstGeom>
          <a:solidFill xmlns:a="http://schemas.openxmlformats.org/drawingml/2006/main">
            <a:srgbClr val="087F8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05C48AC-2469-48AF-947A-9C3E45F9336C}"/>
              </a:ext>
            </a:extLst>
          </p:cNvPr>
          <p:cNvSpPr>
            <a:spLocks xmlns:a="http://schemas.openxmlformats.org/drawingml/2006/main" noGrp="1"/>
          </p:cNvSpPr>
          <p:nvPr/>
        </p:nvSpPr>
        <p:spPr>
          <a:xfrm xmlns:a="http://schemas.openxmlformats.org/drawingml/2006/main">
            <a:off x="685800" y="49530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700" b="1">
                <a:solidFill>
                  <a:srgbClr val="102A43"/>
                </a:solidFill>
                <a:latin typeface="Arial"/>
                <a:ea typeface="Arial"/>
                <a:cs typeface="Arial"/>
              </a:defRPr>
            </a:pPr>
            <a:r>
              <a:rPr sz="2700" b="1">
                <a:solidFill>
                  <a:srgbClr val="102A43"/>
                </a:solidFill>
                <a:latin typeface="Arial"/>
                <a:ea typeface="Arial"/>
                <a:cs typeface="Arial"/>
              </a:rPr>
              <a:t>Chức năng chính</a:t>
            </a:r>
          </a:p>
        </p:txBody>
      </p:sp>
      <p:sp>
        <p:nvSpPr>
          <p:cNvPr id="3" name="">
            <a:extLst xmlns:a="http://schemas.openxmlformats.org/drawingml/2006/main">
              <a:ext uri="{FF2B5EF4-FFF2-40B4-BE49-F238E27FC236}">
                <a16:creationId xmlns:a16="http://schemas.microsoft.com/office/drawing/2014/main" id="{681B8F2C-5307-49E8-97E4-A06A4DB2D459}"/>
              </a:ext>
            </a:extLst>
          </p:cNvPr>
          <p:cNvSpPr>
            <a:spLocks xmlns:a="http://schemas.openxmlformats.org/drawingml/2006/main" noGrp="1"/>
          </p:cNvSpPr>
          <p:nvPr/>
        </p:nvSpPr>
        <p:spPr>
          <a:xfrm xmlns:a="http://schemas.openxmlformats.org/drawingml/2006/main">
            <a:off x="685800" y="6305550"/>
            <a:ext cx="400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714"/>
          </a:bodyPr>
          <a:lstStyle xmlns:a="http://schemas.openxmlformats.org/drawingml/2006/main"/>
          <a:p xmlns:a="http://schemas.openxmlformats.org/drawingml/2006/main">
            <a:pPr>
              <a:defRPr sz="1050" b="0">
                <a:solidFill>
                  <a:srgbClr val="586273"/>
                </a:solidFill>
                <a:latin typeface="Arial"/>
                <a:ea typeface="Arial"/>
                <a:cs typeface="Arial"/>
              </a:defRPr>
            </a:pPr>
            <a:r>
              <a:rPr sz="1050" b="0">
                <a:solidFill>
                  <a:srgbClr val="586273"/>
                </a:solidFill>
                <a:latin typeface="Arial"/>
                <a:ea typeface="Arial"/>
                <a:cs typeface="Arial"/>
              </a:rPr>
              <a:t>Báo cáo dự án Tàng Thư</a:t>
            </a:r>
          </a:p>
        </p:txBody>
      </p:sp>
      <p:sp>
        <p:nvSpPr>
          <p:cNvPr id="4" name="">
            <a:extLst xmlns:a="http://schemas.openxmlformats.org/drawingml/2006/main">
              <a:ext uri="{FF2B5EF4-FFF2-40B4-BE49-F238E27FC236}">
                <a16:creationId xmlns:a16="http://schemas.microsoft.com/office/drawing/2014/main" id="{4F2DB262-8A9F-4992-B2FA-FCFD6F5C7710}"/>
              </a:ext>
            </a:extLst>
          </p:cNvPr>
          <p:cNvSpPr>
            <a:spLocks xmlns:a="http://schemas.openxmlformats.org/drawingml/2006/main" noGrp="1"/>
          </p:cNvSpPr>
          <p:nvPr/>
        </p:nvSpPr>
        <p:spPr>
          <a:xfrm xmlns:a="http://schemas.openxmlformats.org/drawingml/2006/main">
            <a:off x="800100" y="1314450"/>
            <a:ext cx="8763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7789"/>
          </a:bodyPr>
          <a:lstStyle xmlns:a="http://schemas.openxmlformats.org/drawingml/2006/main"/>
          <a:p xmlns:a="http://schemas.openxmlformats.org/drawingml/2006/main">
            <a:pPr>
              <a:defRPr sz="1725" b="0">
                <a:solidFill>
                  <a:srgbClr val="586273"/>
                </a:solidFill>
                <a:latin typeface="Arial"/>
                <a:ea typeface="Arial"/>
                <a:cs typeface="Arial"/>
              </a:defRPr>
            </a:pPr>
            <a:r>
              <a:rPr sz="1725" b="0">
                <a:solidFill>
                  <a:srgbClr val="586273"/>
                </a:solidFill>
                <a:latin typeface="Arial"/>
                <a:ea typeface="Arial"/>
                <a:cs typeface="Arial"/>
              </a:rPr>
              <a:t>Báo cáo nhấn mạnh các chức năng người dùng nhìn thấy và kết quả đầu ra của hệ thống.</a:t>
            </a:r>
          </a:p>
        </p:txBody>
      </p:sp>
      <p:sp>
        <p:nvSpPr>
          <p:cNvPr id="5" name="">
            <a:extLst xmlns:a="http://schemas.openxmlformats.org/drawingml/2006/main">
              <a:ext uri="{FF2B5EF4-FFF2-40B4-BE49-F238E27FC236}">
                <a16:creationId xmlns:a16="http://schemas.microsoft.com/office/drawing/2014/main" id="{5DCB97F5-7CB6-45B8-B740-B51FB8D0830D}"/>
              </a:ext>
            </a:extLst>
          </p:cNvPr>
          <p:cNvSpPr>
            <a:spLocks xmlns:a="http://schemas.openxmlformats.org/drawingml/2006/main" noGrp="1"/>
          </p:cNvSpPr>
          <p:nvPr/>
        </p:nvSpPr>
        <p:spPr>
          <a:xfrm xmlns:a="http://schemas.openxmlformats.org/drawingml/2006/main">
            <a:off x="1047750" y="2076450"/>
            <a:ext cx="10096500" cy="514350"/>
          </a:xfrm>
          <a:prstGeom xmlns:a="http://schemas.openxmlformats.org/drawingml/2006/main" prst="roundRect">
            <a:avLst>
              <a:gd name="adj" fmla="val 14815"/>
            </a:avLst>
          </a:prstGeom>
          <a:solidFill xmlns:a="http://schemas.openxmlformats.org/drawingml/2006/main">
            <a:srgbClr val="EEF6F7"/>
          </a:solidFill>
          <a:ln xmlns:a="http://schemas.openxmlformats.org/drawingml/2006/main" w="9525">
            <a:solidFill>
              <a:srgbClr val="D7DCE3"/>
            </a:solidFill>
            <a:prstDash val="solid"/>
          </a:ln>
        </p:spPr>
      </p:sp>
      <p:sp>
        <p:nvSpPr>
          <p:cNvPr id="6" name="">
            <a:extLst xmlns:a="http://schemas.openxmlformats.org/drawingml/2006/main">
              <a:ext uri="{FF2B5EF4-FFF2-40B4-BE49-F238E27FC236}">
                <a16:creationId xmlns:a16="http://schemas.microsoft.com/office/drawing/2014/main" id="{824BAF4E-5861-4770-AF5C-2C490EBC5135}"/>
              </a:ext>
            </a:extLst>
          </p:cNvPr>
          <p:cNvSpPr>
            <a:spLocks xmlns:a="http://schemas.openxmlformats.org/drawingml/2006/main" noGrp="1"/>
          </p:cNvSpPr>
          <p:nvPr/>
        </p:nvSpPr>
        <p:spPr>
          <a:xfrm xmlns:a="http://schemas.openxmlformats.org/drawingml/2006/main">
            <a:off x="1333500" y="2200275"/>
            <a:ext cx="2571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1111"/>
          </a:bodyPr>
          <a:lstStyle xmlns:a="http://schemas.openxmlformats.org/drawingml/2006/main"/>
          <a:p xmlns:a="http://schemas.openxmlformats.org/drawingml/2006/main">
            <a:pPr>
              <a:defRPr sz="1575" b="1">
                <a:solidFill>
                  <a:srgbClr val="087F8C"/>
                </a:solidFill>
                <a:latin typeface="Arial"/>
                <a:ea typeface="Arial"/>
                <a:cs typeface="Arial"/>
              </a:defRPr>
            </a:pPr>
            <a:r>
              <a:rPr sz="1575" b="1">
                <a:solidFill>
                  <a:srgbClr val="087F8C"/>
                </a:solidFill>
                <a:latin typeface="Arial"/>
                <a:ea typeface="Arial"/>
                <a:cs typeface="Arial"/>
              </a:rPr>
              <a:t>Hỏi đáp học vụ</a:t>
            </a:r>
          </a:p>
        </p:txBody>
      </p:sp>
      <p:sp>
        <p:nvSpPr>
          <p:cNvPr id="7" name="">
            <a:extLst xmlns:a="http://schemas.openxmlformats.org/drawingml/2006/main">
              <a:ext uri="{FF2B5EF4-FFF2-40B4-BE49-F238E27FC236}">
                <a16:creationId xmlns:a16="http://schemas.microsoft.com/office/drawing/2014/main" id="{3006FD37-F2CC-4644-9A40-06ECC0942E2C}"/>
              </a:ext>
            </a:extLst>
          </p:cNvPr>
          <p:cNvSpPr>
            <a:spLocks xmlns:a="http://schemas.openxmlformats.org/drawingml/2006/main" noGrp="1"/>
          </p:cNvSpPr>
          <p:nvPr/>
        </p:nvSpPr>
        <p:spPr>
          <a:xfrm xmlns:a="http://schemas.openxmlformats.org/drawingml/2006/main">
            <a:off x="4191000" y="2200275"/>
            <a:ext cx="6286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1111"/>
          </a:bodyPr>
          <a:lstStyle xmlns:a="http://schemas.openxmlformats.org/drawingml/2006/main"/>
          <a:p xmlns:a="http://schemas.openxmlformats.org/drawingml/2006/main">
            <a:pPr>
              <a:defRPr sz="1575" b="0">
                <a:solidFill>
                  <a:srgbClr val="172033"/>
                </a:solidFill>
                <a:latin typeface="Arial"/>
                <a:ea typeface="Arial"/>
                <a:cs typeface="Arial"/>
              </a:defRPr>
            </a:pPr>
            <a:r>
              <a:rPr sz="1575" b="0">
                <a:solidFill>
                  <a:srgbClr val="172033"/>
                </a:solidFill>
                <a:latin typeface="Arial"/>
                <a:ea typeface="Arial"/>
                <a:cs typeface="Arial"/>
              </a:rPr>
              <a:t>Sinh viên đặt câu hỏi bằng tiếng Việt tự nhiên</a:t>
            </a:r>
          </a:p>
        </p:txBody>
      </p:sp>
      <p:sp>
        <p:nvSpPr>
          <p:cNvPr id="8" name="">
            <a:extLst xmlns:a="http://schemas.openxmlformats.org/drawingml/2006/main">
              <a:ext uri="{FF2B5EF4-FFF2-40B4-BE49-F238E27FC236}">
                <a16:creationId xmlns:a16="http://schemas.microsoft.com/office/drawing/2014/main" id="{885CD6A1-12DB-4012-8528-B7D8808B0BF6}"/>
              </a:ext>
            </a:extLst>
          </p:cNvPr>
          <p:cNvSpPr>
            <a:spLocks xmlns:a="http://schemas.openxmlformats.org/drawingml/2006/main" noGrp="1"/>
          </p:cNvSpPr>
          <p:nvPr/>
        </p:nvSpPr>
        <p:spPr>
          <a:xfrm xmlns:a="http://schemas.openxmlformats.org/drawingml/2006/main">
            <a:off x="1047750" y="2800350"/>
            <a:ext cx="100965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D7DCE3"/>
            </a:solidFill>
            <a:prstDash val="solid"/>
          </a:ln>
        </p:spPr>
      </p:sp>
      <p:sp>
        <p:nvSpPr>
          <p:cNvPr id="9" name="">
            <a:extLst xmlns:a="http://schemas.openxmlformats.org/drawingml/2006/main">
              <a:ext uri="{FF2B5EF4-FFF2-40B4-BE49-F238E27FC236}">
                <a16:creationId xmlns:a16="http://schemas.microsoft.com/office/drawing/2014/main" id="{F81EB163-EB7C-4B9D-865B-CE882A15F543}"/>
              </a:ext>
            </a:extLst>
          </p:cNvPr>
          <p:cNvSpPr>
            <a:spLocks xmlns:a="http://schemas.openxmlformats.org/drawingml/2006/main" noGrp="1"/>
          </p:cNvSpPr>
          <p:nvPr/>
        </p:nvSpPr>
        <p:spPr>
          <a:xfrm xmlns:a="http://schemas.openxmlformats.org/drawingml/2006/main">
            <a:off x="1333500" y="2924175"/>
            <a:ext cx="2571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1111"/>
          </a:bodyPr>
          <a:lstStyle xmlns:a="http://schemas.openxmlformats.org/drawingml/2006/main"/>
          <a:p xmlns:a="http://schemas.openxmlformats.org/drawingml/2006/main">
            <a:pPr>
              <a:defRPr sz="1575" b="1">
                <a:solidFill>
                  <a:srgbClr val="102A43"/>
                </a:solidFill>
                <a:latin typeface="Arial"/>
                <a:ea typeface="Arial"/>
                <a:cs typeface="Arial"/>
              </a:defRPr>
            </a:pPr>
            <a:r>
              <a:rPr sz="1575" b="1">
                <a:solidFill>
                  <a:srgbClr val="102A43"/>
                </a:solidFill>
                <a:latin typeface="Arial"/>
                <a:ea typeface="Arial"/>
                <a:cs typeface="Arial"/>
              </a:rPr>
              <a:t>Tra cứu nguồn</a:t>
            </a:r>
          </a:p>
        </p:txBody>
      </p:sp>
      <p:sp>
        <p:nvSpPr>
          <p:cNvPr id="10" name="">
            <a:extLst xmlns:a="http://schemas.openxmlformats.org/drawingml/2006/main">
              <a:ext uri="{FF2B5EF4-FFF2-40B4-BE49-F238E27FC236}">
                <a16:creationId xmlns:a16="http://schemas.microsoft.com/office/drawing/2014/main" id="{E8D174B8-E78C-47ED-9BA9-77D568BC2969}"/>
              </a:ext>
            </a:extLst>
          </p:cNvPr>
          <p:cNvSpPr>
            <a:spLocks xmlns:a="http://schemas.openxmlformats.org/drawingml/2006/main" noGrp="1"/>
          </p:cNvSpPr>
          <p:nvPr/>
        </p:nvSpPr>
        <p:spPr>
          <a:xfrm xmlns:a="http://schemas.openxmlformats.org/drawingml/2006/main">
            <a:off x="4191000" y="2924175"/>
            <a:ext cx="6286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1111"/>
          </a:bodyPr>
          <a:lstStyle xmlns:a="http://schemas.openxmlformats.org/drawingml/2006/main"/>
          <a:p xmlns:a="http://schemas.openxmlformats.org/drawingml/2006/main">
            <a:pPr>
              <a:defRPr sz="1575" b="0">
                <a:solidFill>
                  <a:srgbClr val="172033"/>
                </a:solidFill>
                <a:latin typeface="Arial"/>
                <a:ea typeface="Arial"/>
                <a:cs typeface="Arial"/>
              </a:defRPr>
            </a:pPr>
            <a:r>
              <a:rPr sz="1575" b="0">
                <a:solidFill>
                  <a:srgbClr val="172033"/>
                </a:solidFill>
                <a:latin typeface="Arial"/>
                <a:ea typeface="Arial"/>
                <a:cs typeface="Arial"/>
              </a:rPr>
              <a:t>Mỗi câu trả lời có trích dẫn để kiểm chứng</a:t>
            </a:r>
          </a:p>
        </p:txBody>
      </p:sp>
      <p:sp>
        <p:nvSpPr>
          <p:cNvPr id="11" name="">
            <a:extLst xmlns:a="http://schemas.openxmlformats.org/drawingml/2006/main">
              <a:ext uri="{FF2B5EF4-FFF2-40B4-BE49-F238E27FC236}">
                <a16:creationId xmlns:a16="http://schemas.microsoft.com/office/drawing/2014/main" id="{47CFC87A-153C-4515-975C-CF720B4D83D6}"/>
              </a:ext>
            </a:extLst>
          </p:cNvPr>
          <p:cNvSpPr>
            <a:spLocks xmlns:a="http://schemas.openxmlformats.org/drawingml/2006/main" noGrp="1"/>
          </p:cNvSpPr>
          <p:nvPr/>
        </p:nvSpPr>
        <p:spPr>
          <a:xfrm xmlns:a="http://schemas.openxmlformats.org/drawingml/2006/main">
            <a:off x="1047750" y="3524250"/>
            <a:ext cx="10096500" cy="514350"/>
          </a:xfrm>
          <a:prstGeom xmlns:a="http://schemas.openxmlformats.org/drawingml/2006/main" prst="roundRect">
            <a:avLst>
              <a:gd name="adj" fmla="val 14815"/>
            </a:avLst>
          </a:prstGeom>
          <a:solidFill xmlns:a="http://schemas.openxmlformats.org/drawingml/2006/main">
            <a:srgbClr val="EEF6F7"/>
          </a:solidFill>
          <a:ln xmlns:a="http://schemas.openxmlformats.org/drawingml/2006/main" w="9525">
            <a:solidFill>
              <a:srgbClr val="D7DCE3"/>
            </a:solidFill>
            <a:prstDash val="solid"/>
          </a:ln>
        </p:spPr>
      </p:sp>
      <p:sp>
        <p:nvSpPr>
          <p:cNvPr id="12" name="">
            <a:extLst xmlns:a="http://schemas.openxmlformats.org/drawingml/2006/main">
              <a:ext uri="{FF2B5EF4-FFF2-40B4-BE49-F238E27FC236}">
                <a16:creationId xmlns:a16="http://schemas.microsoft.com/office/drawing/2014/main" id="{D0B5FE14-6B54-4DBE-B44D-745DE05A956D}"/>
              </a:ext>
            </a:extLst>
          </p:cNvPr>
          <p:cNvSpPr>
            <a:spLocks xmlns:a="http://schemas.openxmlformats.org/drawingml/2006/main" noGrp="1"/>
          </p:cNvSpPr>
          <p:nvPr/>
        </p:nvSpPr>
        <p:spPr>
          <a:xfrm xmlns:a="http://schemas.openxmlformats.org/drawingml/2006/main">
            <a:off x="1333500" y="3648075"/>
            <a:ext cx="2571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1111"/>
          </a:bodyPr>
          <a:lstStyle xmlns:a="http://schemas.openxmlformats.org/drawingml/2006/main"/>
          <a:p xmlns:a="http://schemas.openxmlformats.org/drawingml/2006/main">
            <a:pPr>
              <a:defRPr sz="1575" b="1">
                <a:solidFill>
                  <a:srgbClr val="087F8C"/>
                </a:solidFill>
                <a:latin typeface="Arial"/>
                <a:ea typeface="Arial"/>
                <a:cs typeface="Arial"/>
              </a:defRPr>
            </a:pPr>
            <a:r>
              <a:rPr sz="1575" b="1">
                <a:solidFill>
                  <a:srgbClr val="087F8C"/>
                </a:solidFill>
                <a:latin typeface="Arial"/>
                <a:ea typeface="Arial"/>
                <a:cs typeface="Arial"/>
              </a:rPr>
              <a:t>Quản lý tài liệu</a:t>
            </a:r>
          </a:p>
        </p:txBody>
      </p:sp>
      <p:sp>
        <p:nvSpPr>
          <p:cNvPr id="13" name="">
            <a:extLst xmlns:a="http://schemas.openxmlformats.org/drawingml/2006/main">
              <a:ext uri="{FF2B5EF4-FFF2-40B4-BE49-F238E27FC236}">
                <a16:creationId xmlns:a16="http://schemas.microsoft.com/office/drawing/2014/main" id="{9B705B95-4CDC-47AC-9496-9FE16DD7C82A}"/>
              </a:ext>
            </a:extLst>
          </p:cNvPr>
          <p:cNvSpPr>
            <a:spLocks xmlns:a="http://schemas.openxmlformats.org/drawingml/2006/main" noGrp="1"/>
          </p:cNvSpPr>
          <p:nvPr/>
        </p:nvSpPr>
        <p:spPr>
          <a:xfrm xmlns:a="http://schemas.openxmlformats.org/drawingml/2006/main">
            <a:off x="4191000" y="3648075"/>
            <a:ext cx="6286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1111"/>
          </a:bodyPr>
          <a:lstStyle xmlns:a="http://schemas.openxmlformats.org/drawingml/2006/main"/>
          <a:p xmlns:a="http://schemas.openxmlformats.org/drawingml/2006/main">
            <a:pPr>
              <a:defRPr sz="1575" b="0">
                <a:solidFill>
                  <a:srgbClr val="172033"/>
                </a:solidFill>
                <a:latin typeface="Arial"/>
                <a:ea typeface="Arial"/>
                <a:cs typeface="Arial"/>
              </a:defRPr>
            </a:pPr>
            <a:r>
              <a:rPr sz="1575" b="0">
                <a:solidFill>
                  <a:srgbClr val="172033"/>
                </a:solidFill>
                <a:latin typeface="Arial"/>
                <a:ea typeface="Arial"/>
                <a:cs typeface="Arial"/>
              </a:rPr>
              <a:t>Người quản trị thêm và cập nhật tài liệu học vụ</a:t>
            </a:r>
          </a:p>
        </p:txBody>
      </p:sp>
      <p:sp>
        <p:nvSpPr>
          <p:cNvPr id="14" name="">
            <a:extLst xmlns:a="http://schemas.openxmlformats.org/drawingml/2006/main">
              <a:ext uri="{FF2B5EF4-FFF2-40B4-BE49-F238E27FC236}">
                <a16:creationId xmlns:a16="http://schemas.microsoft.com/office/drawing/2014/main" id="{9671FCD6-3F5B-4899-8BE9-900FC3AB15E1}"/>
              </a:ext>
            </a:extLst>
          </p:cNvPr>
          <p:cNvSpPr>
            <a:spLocks xmlns:a="http://schemas.openxmlformats.org/drawingml/2006/main" noGrp="1"/>
          </p:cNvSpPr>
          <p:nvPr/>
        </p:nvSpPr>
        <p:spPr>
          <a:xfrm xmlns:a="http://schemas.openxmlformats.org/drawingml/2006/main">
            <a:off x="1047750" y="4248150"/>
            <a:ext cx="100965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D7DCE3"/>
            </a:solidFill>
            <a:prstDash val="solid"/>
          </a:ln>
        </p:spPr>
      </p:sp>
      <p:sp>
        <p:nvSpPr>
          <p:cNvPr id="15" name="">
            <a:extLst xmlns:a="http://schemas.openxmlformats.org/drawingml/2006/main">
              <a:ext uri="{FF2B5EF4-FFF2-40B4-BE49-F238E27FC236}">
                <a16:creationId xmlns:a16="http://schemas.microsoft.com/office/drawing/2014/main" id="{252FAA42-02D5-4B2D-A1D2-C12D1590E173}"/>
              </a:ext>
            </a:extLst>
          </p:cNvPr>
          <p:cNvSpPr>
            <a:spLocks xmlns:a="http://schemas.openxmlformats.org/drawingml/2006/main" noGrp="1"/>
          </p:cNvSpPr>
          <p:nvPr/>
        </p:nvSpPr>
        <p:spPr>
          <a:xfrm xmlns:a="http://schemas.openxmlformats.org/drawingml/2006/main">
            <a:off x="1333500" y="4371975"/>
            <a:ext cx="2571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1111"/>
          </a:bodyPr>
          <a:lstStyle xmlns:a="http://schemas.openxmlformats.org/drawingml/2006/main"/>
          <a:p xmlns:a="http://schemas.openxmlformats.org/drawingml/2006/main">
            <a:pPr>
              <a:defRPr sz="1575" b="1">
                <a:solidFill>
                  <a:srgbClr val="102A43"/>
                </a:solidFill>
                <a:latin typeface="Arial"/>
                <a:ea typeface="Arial"/>
                <a:cs typeface="Arial"/>
              </a:defRPr>
            </a:pPr>
            <a:r>
              <a:rPr sz="1575" b="1">
                <a:solidFill>
                  <a:srgbClr val="102A43"/>
                </a:solidFill>
                <a:latin typeface="Arial"/>
                <a:ea typeface="Arial"/>
                <a:cs typeface="Arial"/>
              </a:rPr>
              <a:t>Giới hạn phạm vi</a:t>
            </a:r>
          </a:p>
        </p:txBody>
      </p:sp>
      <p:sp>
        <p:nvSpPr>
          <p:cNvPr id="16" name="">
            <a:extLst xmlns:a="http://schemas.openxmlformats.org/drawingml/2006/main">
              <a:ext uri="{FF2B5EF4-FFF2-40B4-BE49-F238E27FC236}">
                <a16:creationId xmlns:a16="http://schemas.microsoft.com/office/drawing/2014/main" id="{9DD20D9D-49D9-4371-8B26-5C32E208C9FC}"/>
              </a:ext>
            </a:extLst>
          </p:cNvPr>
          <p:cNvSpPr>
            <a:spLocks xmlns:a="http://schemas.openxmlformats.org/drawingml/2006/main" noGrp="1"/>
          </p:cNvSpPr>
          <p:nvPr/>
        </p:nvSpPr>
        <p:spPr>
          <a:xfrm xmlns:a="http://schemas.openxmlformats.org/drawingml/2006/main">
            <a:off x="4191000" y="4371975"/>
            <a:ext cx="6286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1111"/>
          </a:bodyPr>
          <a:lstStyle xmlns:a="http://schemas.openxmlformats.org/drawingml/2006/main"/>
          <a:p xmlns:a="http://schemas.openxmlformats.org/drawingml/2006/main">
            <a:pPr>
              <a:defRPr sz="1575" b="0">
                <a:solidFill>
                  <a:srgbClr val="172033"/>
                </a:solidFill>
                <a:latin typeface="Arial"/>
                <a:ea typeface="Arial"/>
                <a:cs typeface="Arial"/>
              </a:defRPr>
            </a:pPr>
            <a:r>
              <a:rPr sz="1575" b="0">
                <a:solidFill>
                  <a:srgbClr val="172033"/>
                </a:solidFill>
                <a:latin typeface="Arial"/>
                <a:ea typeface="Arial"/>
                <a:cs typeface="Arial"/>
              </a:rPr>
              <a:t>Người dùng chỉ thấy thông tin phù hợp với đơn vị</a:t>
            </a:r>
          </a:p>
        </p:txBody>
      </p:sp>
      <p:sp>
        <p:nvSpPr>
          <p:cNvPr id="17" name="">
            <a:extLst xmlns:a="http://schemas.openxmlformats.org/drawingml/2006/main">
              <a:ext uri="{FF2B5EF4-FFF2-40B4-BE49-F238E27FC236}">
                <a16:creationId xmlns:a16="http://schemas.microsoft.com/office/drawing/2014/main" id="{CB848753-EF73-4268-860D-85E3EB7B2E8C}"/>
              </a:ext>
            </a:extLst>
          </p:cNvPr>
          <p:cNvSpPr>
            <a:spLocks xmlns:a="http://schemas.openxmlformats.org/drawingml/2006/main" noGrp="1"/>
          </p:cNvSpPr>
          <p:nvPr/>
        </p:nvSpPr>
        <p:spPr>
          <a:xfrm xmlns:a="http://schemas.openxmlformats.org/drawingml/2006/main">
            <a:off x="1047750" y="4972050"/>
            <a:ext cx="10096500" cy="514350"/>
          </a:xfrm>
          <a:prstGeom xmlns:a="http://schemas.openxmlformats.org/drawingml/2006/main" prst="roundRect">
            <a:avLst>
              <a:gd name="adj" fmla="val 14815"/>
            </a:avLst>
          </a:prstGeom>
          <a:solidFill xmlns:a="http://schemas.openxmlformats.org/drawingml/2006/main">
            <a:srgbClr val="EEF6F7"/>
          </a:solidFill>
          <a:ln xmlns:a="http://schemas.openxmlformats.org/drawingml/2006/main" w="9525">
            <a:solidFill>
              <a:srgbClr val="D7DCE3"/>
            </a:solidFill>
            <a:prstDash val="solid"/>
          </a:ln>
        </p:spPr>
      </p:sp>
      <p:sp>
        <p:nvSpPr>
          <p:cNvPr id="18" name="">
            <a:extLst xmlns:a="http://schemas.openxmlformats.org/drawingml/2006/main">
              <a:ext uri="{FF2B5EF4-FFF2-40B4-BE49-F238E27FC236}">
                <a16:creationId xmlns:a16="http://schemas.microsoft.com/office/drawing/2014/main" id="{347800E6-17D5-474E-8374-D5BC13885F90}"/>
              </a:ext>
            </a:extLst>
          </p:cNvPr>
          <p:cNvSpPr>
            <a:spLocks xmlns:a="http://schemas.openxmlformats.org/drawingml/2006/main" noGrp="1"/>
          </p:cNvSpPr>
          <p:nvPr/>
        </p:nvSpPr>
        <p:spPr>
          <a:xfrm xmlns:a="http://schemas.openxmlformats.org/drawingml/2006/main">
            <a:off x="1333500" y="5095875"/>
            <a:ext cx="2571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1111"/>
          </a:bodyPr>
          <a:lstStyle xmlns:a="http://schemas.openxmlformats.org/drawingml/2006/main"/>
          <a:p xmlns:a="http://schemas.openxmlformats.org/drawingml/2006/main">
            <a:pPr>
              <a:defRPr sz="1575" b="1">
                <a:solidFill>
                  <a:srgbClr val="087F8C"/>
                </a:solidFill>
                <a:latin typeface="Arial"/>
                <a:ea typeface="Arial"/>
                <a:cs typeface="Arial"/>
              </a:defRPr>
            </a:pPr>
            <a:r>
              <a:rPr sz="1575" b="1">
                <a:solidFill>
                  <a:srgbClr val="087F8C"/>
                </a:solidFill>
                <a:latin typeface="Arial"/>
                <a:ea typeface="Arial"/>
                <a:cs typeface="Arial"/>
              </a:rPr>
              <a:t>Đánh giá chất lượng</a:t>
            </a:r>
          </a:p>
        </p:txBody>
      </p:sp>
      <p:sp>
        <p:nvSpPr>
          <p:cNvPr id="19" name="">
            <a:extLst xmlns:a="http://schemas.openxmlformats.org/drawingml/2006/main">
              <a:ext uri="{FF2B5EF4-FFF2-40B4-BE49-F238E27FC236}">
                <a16:creationId xmlns:a16="http://schemas.microsoft.com/office/drawing/2014/main" id="{8DDBC0E8-AB42-4FC4-B982-9B7F2CB4D3AE}"/>
              </a:ext>
            </a:extLst>
          </p:cNvPr>
          <p:cNvSpPr>
            <a:spLocks xmlns:a="http://schemas.openxmlformats.org/drawingml/2006/main" noGrp="1"/>
          </p:cNvSpPr>
          <p:nvPr/>
        </p:nvSpPr>
        <p:spPr>
          <a:xfrm xmlns:a="http://schemas.openxmlformats.org/drawingml/2006/main">
            <a:off x="4191000" y="5095875"/>
            <a:ext cx="6286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1111"/>
          </a:bodyPr>
          <a:lstStyle xmlns:a="http://schemas.openxmlformats.org/drawingml/2006/main"/>
          <a:p xmlns:a="http://schemas.openxmlformats.org/drawingml/2006/main">
            <a:pPr>
              <a:defRPr sz="1575" b="0">
                <a:solidFill>
                  <a:srgbClr val="172033"/>
                </a:solidFill>
                <a:latin typeface="Arial"/>
                <a:ea typeface="Arial"/>
                <a:cs typeface="Arial"/>
              </a:defRPr>
            </a:pPr>
            <a:r>
              <a:rPr sz="1575" b="0">
                <a:solidFill>
                  <a:srgbClr val="172033"/>
                </a:solidFill>
                <a:latin typeface="Arial"/>
                <a:ea typeface="Arial"/>
                <a:cs typeface="Arial"/>
              </a:rPr>
              <a:t>Nhóm dùng bộ câu hỏi mẫu để kiểm tra kết quả</a:t>
            </a:r>
          </a:p>
        </p:txBody>
      </p:sp>
    </p:spTree>
    <p:extLst>
      <p:ext uri="{BB962C8B-B14F-4D97-AF65-F5344CB8AC3E}">
        <p14:creationId xmlns:p14="http://schemas.microsoft.com/office/powerpoint/2010/main" val="1320434219"/>
      </p:ext>
    </p:extLst>
  </p:cSld>
</p:sld>
</file>

<file path=ppt/slides/slide8.xml><?xml version="1.0" encoding="utf-8"?>
<p:sld xmlns:p="http://schemas.openxmlformats.org/presentationml/2006/main">
  <p:cSld>
    <p:bg>
      <p:bgPr>
        <a:solidFill xmlns:a="http://schemas.openxmlformats.org/drawingml/2006/main">
          <a:srgbClr val="F7F8F5"/>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82DCC0FB-144A-4B61-842D-8C20B4753782}"/>
              </a:ext>
            </a:extLst>
          </p:cNvPr>
          <p:cNvSpPr>
            <a:spLocks xmlns:a="http://schemas.openxmlformats.org/drawingml/2006/main" noGrp="1"/>
          </p:cNvSpPr>
          <p:nvPr/>
        </p:nvSpPr>
        <p:spPr>
          <a:xfrm xmlns:a="http://schemas.openxmlformats.org/drawingml/2006/main">
            <a:off x="0" y="0"/>
            <a:ext cx="12192000" cy="171450"/>
          </a:xfrm>
          <a:prstGeom xmlns:a="http://schemas.openxmlformats.org/drawingml/2006/main" prst="rect">
            <a:avLst/>
          </a:prstGeom>
          <a:solidFill xmlns:a="http://schemas.openxmlformats.org/drawingml/2006/main">
            <a:srgbClr val="087F8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D830434-B2F6-4DFC-B6E2-C6C5AD0AC546}"/>
              </a:ext>
            </a:extLst>
          </p:cNvPr>
          <p:cNvSpPr>
            <a:spLocks xmlns:a="http://schemas.openxmlformats.org/drawingml/2006/main" noGrp="1"/>
          </p:cNvSpPr>
          <p:nvPr/>
        </p:nvSpPr>
        <p:spPr>
          <a:xfrm xmlns:a="http://schemas.openxmlformats.org/drawingml/2006/main">
            <a:off x="704850" y="400050"/>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5833"/>
          </a:bodyPr>
          <a:lstStyle xmlns:a="http://schemas.openxmlformats.org/drawingml/2006/main"/>
          <a:p xmlns:a="http://schemas.openxmlformats.org/drawingml/2006/main">
            <a:pPr>
              <a:defRPr sz="1200" b="1">
                <a:solidFill>
                  <a:srgbClr val="087F8C"/>
                </a:solidFill>
                <a:latin typeface="Arial"/>
                <a:ea typeface="Arial"/>
                <a:cs typeface="Arial"/>
              </a:defRPr>
            </a:pPr>
            <a:r>
              <a:rPr sz="1200" b="1">
                <a:solidFill>
                  <a:srgbClr val="087F8C"/>
                </a:solidFill>
                <a:latin typeface="Arial"/>
                <a:ea typeface="Arial"/>
                <a:cs typeface="Arial"/>
              </a:rPr>
              <a:t>Tiêu chí từ ảnh</a:t>
            </a:r>
          </a:p>
        </p:txBody>
      </p:sp>
      <p:sp>
        <p:nvSpPr>
          <p:cNvPr id="3" name="">
            <a:extLst xmlns:a="http://schemas.openxmlformats.org/drawingml/2006/main">
              <a:ext uri="{FF2B5EF4-FFF2-40B4-BE49-F238E27FC236}">
                <a16:creationId xmlns:a16="http://schemas.microsoft.com/office/drawing/2014/main" id="{4745DCB1-E026-485F-8D21-0BB96E0B6A24}"/>
              </a:ext>
            </a:extLst>
          </p:cNvPr>
          <p:cNvSpPr>
            <a:spLocks xmlns:a="http://schemas.openxmlformats.org/drawingml/2006/main" noGrp="1"/>
          </p:cNvSpPr>
          <p:nvPr/>
        </p:nvSpPr>
        <p:spPr>
          <a:xfrm xmlns:a="http://schemas.openxmlformats.org/drawingml/2006/main">
            <a:off x="685800" y="7048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700" b="1">
                <a:solidFill>
                  <a:srgbClr val="102A43"/>
                </a:solidFill>
                <a:latin typeface="Arial"/>
                <a:ea typeface="Arial"/>
                <a:cs typeface="Arial"/>
              </a:defRPr>
            </a:pPr>
            <a:r>
              <a:rPr sz="2700" b="1">
                <a:solidFill>
                  <a:srgbClr val="102A43"/>
                </a:solidFill>
                <a:latin typeface="Arial"/>
                <a:ea typeface="Arial"/>
                <a:cs typeface="Arial"/>
              </a:rPr>
              <a:t>Tính rõ ràng và khả thi</a:t>
            </a:r>
          </a:p>
        </p:txBody>
      </p:sp>
      <p:sp>
        <p:nvSpPr>
          <p:cNvPr id="4" name="">
            <a:extLst xmlns:a="http://schemas.openxmlformats.org/drawingml/2006/main">
              <a:ext uri="{FF2B5EF4-FFF2-40B4-BE49-F238E27FC236}">
                <a16:creationId xmlns:a16="http://schemas.microsoft.com/office/drawing/2014/main" id="{B18574F3-6A06-413D-BD1C-2B4A93F9F714}"/>
              </a:ext>
            </a:extLst>
          </p:cNvPr>
          <p:cNvSpPr>
            <a:spLocks xmlns:a="http://schemas.openxmlformats.org/drawingml/2006/main" noGrp="1"/>
          </p:cNvSpPr>
          <p:nvPr/>
        </p:nvSpPr>
        <p:spPr>
          <a:xfrm xmlns:a="http://schemas.openxmlformats.org/drawingml/2006/main">
            <a:off x="685800" y="6305550"/>
            <a:ext cx="400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714"/>
          </a:bodyPr>
          <a:lstStyle xmlns:a="http://schemas.openxmlformats.org/drawingml/2006/main"/>
          <a:p xmlns:a="http://schemas.openxmlformats.org/drawingml/2006/main">
            <a:pPr>
              <a:defRPr sz="1050" b="0">
                <a:solidFill>
                  <a:srgbClr val="586273"/>
                </a:solidFill>
                <a:latin typeface="Arial"/>
                <a:ea typeface="Arial"/>
                <a:cs typeface="Arial"/>
              </a:defRPr>
            </a:pPr>
            <a:r>
              <a:rPr sz="1050" b="0">
                <a:solidFill>
                  <a:srgbClr val="586273"/>
                </a:solidFill>
                <a:latin typeface="Arial"/>
                <a:ea typeface="Arial"/>
                <a:cs typeface="Arial"/>
              </a:rPr>
              <a:t>Báo cáo dự án Tàng Thư</a:t>
            </a:r>
          </a:p>
        </p:txBody>
      </p:sp>
      <p:sp>
        <p:nvSpPr>
          <p:cNvPr id="5" name="">
            <a:extLst xmlns:a="http://schemas.openxmlformats.org/drawingml/2006/main">
              <a:ext uri="{FF2B5EF4-FFF2-40B4-BE49-F238E27FC236}">
                <a16:creationId xmlns:a16="http://schemas.microsoft.com/office/drawing/2014/main" id="{57DFAD0E-6815-4B3C-8089-0D57EBBBE84C}"/>
              </a:ext>
            </a:extLst>
          </p:cNvPr>
          <p:cNvSpPr>
            <a:spLocks xmlns:a="http://schemas.openxmlformats.org/drawingml/2006/main" noGrp="1"/>
          </p:cNvSpPr>
          <p:nvPr/>
        </p:nvSpPr>
        <p:spPr>
          <a:xfrm xmlns:a="http://schemas.openxmlformats.org/drawingml/2006/main">
            <a:off x="838200" y="1428750"/>
            <a:ext cx="10287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3889"/>
          </a:bodyPr>
          <a:lstStyle xmlns:a="http://schemas.openxmlformats.org/drawingml/2006/main"/>
          <a:p xmlns:a="http://schemas.openxmlformats.org/drawingml/2006/main">
            <a:pPr>
              <a:defRPr sz="2250" b="1">
                <a:solidFill>
                  <a:srgbClr val="102A43"/>
                </a:solidFill>
                <a:latin typeface="Arial"/>
                <a:ea typeface="Arial"/>
                <a:cs typeface="Arial"/>
              </a:defRPr>
            </a:pPr>
            <a:r>
              <a:rPr sz="2250" b="1">
                <a:solidFill>
                  <a:srgbClr val="102A43"/>
                </a:solidFill>
                <a:latin typeface="Arial"/>
                <a:ea typeface="Arial"/>
                <a:cs typeface="Arial"/>
              </a:rPr>
              <a:t>Dự án có đầu ra cụ thể: người dùng hỏi một vấn đề học vụ, hệ thống trả lời kèm căn cứ từ tài liệu.</a:t>
            </a:r>
          </a:p>
        </p:txBody>
      </p:sp>
      <p:sp>
        <p:nvSpPr>
          <p:cNvPr id="6" name="">
            <a:extLst xmlns:a="http://schemas.openxmlformats.org/drawingml/2006/main">
              <a:ext uri="{FF2B5EF4-FFF2-40B4-BE49-F238E27FC236}">
                <a16:creationId xmlns:a16="http://schemas.microsoft.com/office/drawing/2014/main" id="{4845C4DD-D36C-403A-A3F7-5681C6DAE85F}"/>
              </a:ext>
            </a:extLst>
          </p:cNvPr>
          <p:cNvSpPr>
            <a:spLocks xmlns:a="http://schemas.openxmlformats.org/drawingml/2006/main" noGrp="1"/>
          </p:cNvSpPr>
          <p:nvPr/>
        </p:nvSpPr>
        <p:spPr>
          <a:xfrm xmlns:a="http://schemas.openxmlformats.org/drawingml/2006/main">
            <a:off x="1066800" y="2743200"/>
            <a:ext cx="4476750" cy="1200150"/>
          </a:xfrm>
          <a:prstGeom xmlns:a="http://schemas.openxmlformats.org/drawingml/2006/main" prst="roundRect">
            <a:avLst>
              <a:gd name="adj" fmla="val 6349"/>
            </a:avLst>
          </a:prstGeom>
          <a:solidFill xmlns:a="http://schemas.openxmlformats.org/drawingml/2006/main">
            <a:srgbClr val="E7F5FF"/>
          </a:solidFill>
          <a:ln xmlns:a="http://schemas.openxmlformats.org/drawingml/2006/main" w="11430">
            <a:solidFill>
              <a:srgbClr val="087F8C"/>
            </a:solidFill>
            <a:prstDash val="solid"/>
          </a:ln>
        </p:spPr>
      </p:sp>
      <p:sp>
        <p:nvSpPr>
          <p:cNvPr id="7" name="">
            <a:extLst xmlns:a="http://schemas.openxmlformats.org/drawingml/2006/main">
              <a:ext uri="{FF2B5EF4-FFF2-40B4-BE49-F238E27FC236}">
                <a16:creationId xmlns:a16="http://schemas.microsoft.com/office/drawing/2014/main" id="{30658340-3967-4B44-A2E3-F7A077D3CA2B}"/>
              </a:ext>
            </a:extLst>
          </p:cNvPr>
          <p:cNvSpPr>
            <a:spLocks xmlns:a="http://schemas.openxmlformats.org/drawingml/2006/main" noGrp="1"/>
          </p:cNvSpPr>
          <p:nvPr/>
        </p:nvSpPr>
        <p:spPr>
          <a:xfrm xmlns:a="http://schemas.openxmlformats.org/drawingml/2006/main">
            <a:off x="1276350" y="2933700"/>
            <a:ext cx="4057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392"/>
          </a:bodyPr>
          <a:lstStyle xmlns:a="http://schemas.openxmlformats.org/drawingml/2006/main"/>
          <a:p xmlns:a="http://schemas.openxmlformats.org/drawingml/2006/main">
            <a:pPr>
              <a:defRPr sz="1275" b="1">
                <a:solidFill>
                  <a:srgbClr val="087F8C"/>
                </a:solidFill>
                <a:latin typeface="Arial"/>
                <a:ea typeface="Arial"/>
                <a:cs typeface="Arial"/>
              </a:defRPr>
            </a:pPr>
            <a:r>
              <a:rPr sz="1275" b="1">
                <a:solidFill>
                  <a:srgbClr val="087F8C"/>
                </a:solidFill>
                <a:latin typeface="Arial"/>
                <a:ea typeface="Arial"/>
                <a:cs typeface="Arial"/>
              </a:rPr>
              <a:t>Tính rõ ràng</a:t>
            </a:r>
          </a:p>
        </p:txBody>
      </p:sp>
      <p:sp>
        <p:nvSpPr>
          <p:cNvPr id="8" name="">
            <a:extLst xmlns:a="http://schemas.openxmlformats.org/drawingml/2006/main">
              <a:ext uri="{FF2B5EF4-FFF2-40B4-BE49-F238E27FC236}">
                <a16:creationId xmlns:a16="http://schemas.microsoft.com/office/drawing/2014/main" id="{08587774-9A0D-4938-BEB7-C584A51D505B}"/>
              </a:ext>
            </a:extLst>
          </p:cNvPr>
          <p:cNvSpPr>
            <a:spLocks xmlns:a="http://schemas.openxmlformats.org/drawingml/2006/main" noGrp="1"/>
          </p:cNvSpPr>
          <p:nvPr/>
        </p:nvSpPr>
        <p:spPr>
          <a:xfrm xmlns:a="http://schemas.openxmlformats.org/drawingml/2006/main">
            <a:off x="1276350" y="3238500"/>
            <a:ext cx="40576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4058"/>
          </a:bodyPr>
          <a:lstStyle xmlns:a="http://schemas.openxmlformats.org/drawingml/2006/main"/>
          <a:p xmlns:a="http://schemas.openxmlformats.org/drawingml/2006/main">
            <a:pPr>
              <a:defRPr sz="1725" b="1">
                <a:solidFill>
                  <a:srgbClr val="172033"/>
                </a:solidFill>
                <a:latin typeface="Arial"/>
                <a:ea typeface="Arial"/>
                <a:cs typeface="Arial"/>
              </a:defRPr>
            </a:pPr>
            <a:r>
              <a:rPr sz="1725" b="1">
                <a:solidFill>
                  <a:srgbClr val="172033"/>
                </a:solidFill>
                <a:latin typeface="Arial"/>
                <a:ea typeface="Arial"/>
                <a:cs typeface="Arial"/>
              </a:rPr>
              <a:t>Đầu vào, đầu ra và phạm vi dữ liệu đều xác định được</a:t>
            </a:r>
          </a:p>
        </p:txBody>
      </p:sp>
      <p:sp>
        <p:nvSpPr>
          <p:cNvPr id="9" name="">
            <a:extLst xmlns:a="http://schemas.openxmlformats.org/drawingml/2006/main">
              <a:ext uri="{FF2B5EF4-FFF2-40B4-BE49-F238E27FC236}">
                <a16:creationId xmlns:a16="http://schemas.microsoft.com/office/drawing/2014/main" id="{5AA30990-E834-4B48-9E59-4BD4E0308EDF}"/>
              </a:ext>
            </a:extLst>
          </p:cNvPr>
          <p:cNvSpPr>
            <a:spLocks xmlns:a="http://schemas.openxmlformats.org/drawingml/2006/main" noGrp="1"/>
          </p:cNvSpPr>
          <p:nvPr/>
        </p:nvSpPr>
        <p:spPr>
          <a:xfrm xmlns:a="http://schemas.openxmlformats.org/drawingml/2006/main">
            <a:off x="6648450" y="2743200"/>
            <a:ext cx="4476750" cy="1200150"/>
          </a:xfrm>
          <a:prstGeom xmlns:a="http://schemas.openxmlformats.org/drawingml/2006/main" prst="roundRect">
            <a:avLst>
              <a:gd name="adj" fmla="val 6349"/>
            </a:avLst>
          </a:prstGeom>
          <a:solidFill xmlns:a="http://schemas.openxmlformats.org/drawingml/2006/main">
            <a:srgbClr val="EBF7EF"/>
          </a:solidFill>
          <a:ln xmlns:a="http://schemas.openxmlformats.org/drawingml/2006/main" w="11430">
            <a:solidFill>
              <a:srgbClr val="2F9E44"/>
            </a:solidFill>
            <a:prstDash val="solid"/>
          </a:ln>
        </p:spPr>
      </p:sp>
      <p:sp>
        <p:nvSpPr>
          <p:cNvPr id="10" name="">
            <a:extLst xmlns:a="http://schemas.openxmlformats.org/drawingml/2006/main">
              <a:ext uri="{FF2B5EF4-FFF2-40B4-BE49-F238E27FC236}">
                <a16:creationId xmlns:a16="http://schemas.microsoft.com/office/drawing/2014/main" id="{5AAD4C6D-7FEB-41D2-AFEC-B8D1FDE0CA77}"/>
              </a:ext>
            </a:extLst>
          </p:cNvPr>
          <p:cNvSpPr>
            <a:spLocks xmlns:a="http://schemas.openxmlformats.org/drawingml/2006/main" noGrp="1"/>
          </p:cNvSpPr>
          <p:nvPr/>
        </p:nvSpPr>
        <p:spPr>
          <a:xfrm xmlns:a="http://schemas.openxmlformats.org/drawingml/2006/main">
            <a:off x="6858000" y="2933700"/>
            <a:ext cx="4057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392"/>
          </a:bodyPr>
          <a:lstStyle xmlns:a="http://schemas.openxmlformats.org/drawingml/2006/main"/>
          <a:p xmlns:a="http://schemas.openxmlformats.org/drawingml/2006/main">
            <a:pPr>
              <a:defRPr sz="1275" b="1">
                <a:solidFill>
                  <a:srgbClr val="2F9E44"/>
                </a:solidFill>
                <a:latin typeface="Arial"/>
                <a:ea typeface="Arial"/>
                <a:cs typeface="Arial"/>
              </a:defRPr>
            </a:pPr>
            <a:r>
              <a:rPr sz="1275" b="1">
                <a:solidFill>
                  <a:srgbClr val="2F9E44"/>
                </a:solidFill>
                <a:latin typeface="Arial"/>
                <a:ea typeface="Arial"/>
                <a:cs typeface="Arial"/>
              </a:rPr>
              <a:t>Tính khả thi</a:t>
            </a:r>
          </a:p>
        </p:txBody>
      </p:sp>
      <p:sp>
        <p:nvSpPr>
          <p:cNvPr id="11" name="">
            <a:extLst xmlns:a="http://schemas.openxmlformats.org/drawingml/2006/main">
              <a:ext uri="{FF2B5EF4-FFF2-40B4-BE49-F238E27FC236}">
                <a16:creationId xmlns:a16="http://schemas.microsoft.com/office/drawing/2014/main" id="{56B861A7-7990-4FA7-93DE-EAD2AE3DE6A9}"/>
              </a:ext>
            </a:extLst>
          </p:cNvPr>
          <p:cNvSpPr>
            <a:spLocks xmlns:a="http://schemas.openxmlformats.org/drawingml/2006/main" noGrp="1"/>
          </p:cNvSpPr>
          <p:nvPr/>
        </p:nvSpPr>
        <p:spPr>
          <a:xfrm xmlns:a="http://schemas.openxmlformats.org/drawingml/2006/main">
            <a:off x="6858000" y="3238500"/>
            <a:ext cx="40576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4058"/>
          </a:bodyPr>
          <a:lstStyle xmlns:a="http://schemas.openxmlformats.org/drawingml/2006/main"/>
          <a:p xmlns:a="http://schemas.openxmlformats.org/drawingml/2006/main">
            <a:pPr>
              <a:defRPr sz="1725" b="1">
                <a:solidFill>
                  <a:srgbClr val="172033"/>
                </a:solidFill>
                <a:latin typeface="Arial"/>
                <a:ea typeface="Arial"/>
                <a:cs typeface="Arial"/>
              </a:defRPr>
            </a:pPr>
            <a:r>
              <a:rPr sz="1725" b="1">
                <a:solidFill>
                  <a:srgbClr val="172033"/>
                </a:solidFill>
                <a:latin typeface="Arial"/>
                <a:ea typeface="Arial"/>
                <a:cs typeface="Arial"/>
              </a:rPr>
              <a:t>Nhóm có thể triển khai theo từng phần và kiểm tra bằng câu hỏi mẫu</a:t>
            </a:r>
          </a:p>
        </p:txBody>
      </p:sp>
      <p:sp>
        <p:nvSpPr>
          <p:cNvPr id="12" name="">
            <a:extLst xmlns:a="http://schemas.openxmlformats.org/drawingml/2006/main">
              <a:ext uri="{FF2B5EF4-FFF2-40B4-BE49-F238E27FC236}">
                <a16:creationId xmlns:a16="http://schemas.microsoft.com/office/drawing/2014/main" id="{778C5DB5-0A9D-4DCB-82B5-A23491B78940}"/>
              </a:ext>
            </a:extLst>
          </p:cNvPr>
          <p:cNvSpPr>
            <a:spLocks xmlns:a="http://schemas.openxmlformats.org/drawingml/2006/main" noGrp="1"/>
          </p:cNvSpPr>
          <p:nvPr/>
        </p:nvSpPr>
        <p:spPr>
          <a:xfrm xmlns:a="http://schemas.openxmlformats.org/drawingml/2006/main">
            <a:off x="1085850" y="4933950"/>
            <a:ext cx="9906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7500"/>
          </a:bodyPr>
          <a:lstStyle xmlns:a="http://schemas.openxmlformats.org/drawingml/2006/main"/>
          <a:p xmlns:a="http://schemas.openxmlformats.org/drawingml/2006/main">
            <a:pPr>
              <a:defRPr sz="1800" b="0">
                <a:solidFill>
                  <a:srgbClr val="172033"/>
                </a:solidFill>
                <a:latin typeface="Arial"/>
                <a:ea typeface="Arial"/>
                <a:cs typeface="Arial"/>
              </a:defRPr>
            </a:pPr>
            <a:r>
              <a:rPr sz="1800" b="0">
                <a:solidFill>
                  <a:srgbClr val="172033"/>
                </a:solidFill>
                <a:latin typeface="Arial"/>
                <a:ea typeface="Arial"/>
                <a:cs typeface="Arial"/>
              </a:rPr>
              <a:t>Cách chứng minh khi báo cáo: mô tả luồng hỏi đáp, ví dụ câu hỏi, câu trả lời, nguồn trích dẫn và tình huống từ chối khi không có căn cứ.</a:t>
            </a:r>
          </a:p>
        </p:txBody>
      </p:sp>
    </p:spTree>
    <p:extLst>
      <p:ext uri="{BB962C8B-B14F-4D97-AF65-F5344CB8AC3E}">
        <p14:creationId xmlns:p14="http://schemas.microsoft.com/office/powerpoint/2010/main" val="1671277096"/>
      </p:ext>
    </p:extLst>
  </p:cSld>
</p:sld>
</file>

<file path=ppt/slides/slide9.xml><?xml version="1.0" encoding="utf-8"?>
<p:sld xmlns:p="http://schemas.openxmlformats.org/presentationml/2006/main">
  <p:cSld>
    <p:bg>
      <p:bgPr>
        <a:solidFill xmlns:a="http://schemas.openxmlformats.org/drawingml/2006/main">
          <a:srgbClr val="F7F8F5"/>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6BC63DA9-AB4A-4EB6-8965-C2B65C6B53C4}"/>
              </a:ext>
            </a:extLst>
          </p:cNvPr>
          <p:cNvSpPr>
            <a:spLocks xmlns:a="http://schemas.openxmlformats.org/drawingml/2006/main" noGrp="1"/>
          </p:cNvSpPr>
          <p:nvPr/>
        </p:nvSpPr>
        <p:spPr>
          <a:xfrm xmlns:a="http://schemas.openxmlformats.org/drawingml/2006/main">
            <a:off x="0" y="0"/>
            <a:ext cx="12192000" cy="171450"/>
          </a:xfrm>
          <a:prstGeom xmlns:a="http://schemas.openxmlformats.org/drawingml/2006/main" prst="rect">
            <a:avLst/>
          </a:prstGeom>
          <a:solidFill xmlns:a="http://schemas.openxmlformats.org/drawingml/2006/main">
            <a:srgbClr val="087F8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30F92BA-E5B6-4564-B02C-92D2DC3C8E30}"/>
              </a:ext>
            </a:extLst>
          </p:cNvPr>
          <p:cNvSpPr>
            <a:spLocks xmlns:a="http://schemas.openxmlformats.org/drawingml/2006/main" noGrp="1"/>
          </p:cNvSpPr>
          <p:nvPr/>
        </p:nvSpPr>
        <p:spPr>
          <a:xfrm xmlns:a="http://schemas.openxmlformats.org/drawingml/2006/main">
            <a:off x="704850" y="400050"/>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5833"/>
          </a:bodyPr>
          <a:lstStyle xmlns:a="http://schemas.openxmlformats.org/drawingml/2006/main"/>
          <a:p xmlns:a="http://schemas.openxmlformats.org/drawingml/2006/main">
            <a:pPr>
              <a:defRPr sz="1200" b="1">
                <a:solidFill>
                  <a:srgbClr val="087F8C"/>
                </a:solidFill>
                <a:latin typeface="Arial"/>
                <a:ea typeface="Arial"/>
                <a:cs typeface="Arial"/>
              </a:defRPr>
            </a:pPr>
            <a:r>
              <a:rPr sz="1200" b="1">
                <a:solidFill>
                  <a:srgbClr val="087F8C"/>
                </a:solidFill>
                <a:latin typeface="Arial"/>
                <a:ea typeface="Arial"/>
                <a:cs typeface="Arial"/>
              </a:rPr>
              <a:t>Tiêu chí từ ảnh</a:t>
            </a:r>
          </a:p>
        </p:txBody>
      </p:sp>
      <p:sp>
        <p:nvSpPr>
          <p:cNvPr id="3" name="">
            <a:extLst xmlns:a="http://schemas.openxmlformats.org/drawingml/2006/main">
              <a:ext uri="{FF2B5EF4-FFF2-40B4-BE49-F238E27FC236}">
                <a16:creationId xmlns:a16="http://schemas.microsoft.com/office/drawing/2014/main" id="{DD7EFA37-19E3-46C9-8FF0-A5DE59663869}"/>
              </a:ext>
            </a:extLst>
          </p:cNvPr>
          <p:cNvSpPr>
            <a:spLocks xmlns:a="http://schemas.openxmlformats.org/drawingml/2006/main" noGrp="1"/>
          </p:cNvSpPr>
          <p:nvPr/>
        </p:nvSpPr>
        <p:spPr>
          <a:xfrm xmlns:a="http://schemas.openxmlformats.org/drawingml/2006/main">
            <a:off x="685800" y="7048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700" b="1">
                <a:solidFill>
                  <a:srgbClr val="102A43"/>
                </a:solidFill>
                <a:latin typeface="Arial"/>
                <a:ea typeface="Arial"/>
                <a:cs typeface="Arial"/>
              </a:defRPr>
            </a:pPr>
            <a:r>
              <a:rPr sz="2700" b="1">
                <a:solidFill>
                  <a:srgbClr val="102A43"/>
                </a:solidFill>
                <a:latin typeface="Arial"/>
                <a:ea typeface="Arial"/>
                <a:cs typeface="Arial"/>
              </a:rPr>
              <a:t>Tính mới và mức tin học hóa</a:t>
            </a:r>
          </a:p>
        </p:txBody>
      </p:sp>
      <p:sp>
        <p:nvSpPr>
          <p:cNvPr id="4" name="">
            <a:extLst xmlns:a="http://schemas.openxmlformats.org/drawingml/2006/main">
              <a:ext uri="{FF2B5EF4-FFF2-40B4-BE49-F238E27FC236}">
                <a16:creationId xmlns:a16="http://schemas.microsoft.com/office/drawing/2014/main" id="{E620CD02-CF1F-4C60-9B81-C435D38DE5E3}"/>
              </a:ext>
            </a:extLst>
          </p:cNvPr>
          <p:cNvSpPr>
            <a:spLocks xmlns:a="http://schemas.openxmlformats.org/drawingml/2006/main" noGrp="1"/>
          </p:cNvSpPr>
          <p:nvPr/>
        </p:nvSpPr>
        <p:spPr>
          <a:xfrm xmlns:a="http://schemas.openxmlformats.org/drawingml/2006/main">
            <a:off x="685800" y="6305550"/>
            <a:ext cx="400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714"/>
          </a:bodyPr>
          <a:lstStyle xmlns:a="http://schemas.openxmlformats.org/drawingml/2006/main"/>
          <a:p xmlns:a="http://schemas.openxmlformats.org/drawingml/2006/main">
            <a:pPr>
              <a:defRPr sz="1050" b="0">
                <a:solidFill>
                  <a:srgbClr val="586273"/>
                </a:solidFill>
                <a:latin typeface="Arial"/>
                <a:ea typeface="Arial"/>
                <a:cs typeface="Arial"/>
              </a:defRPr>
            </a:pPr>
            <a:r>
              <a:rPr sz="1050" b="0">
                <a:solidFill>
                  <a:srgbClr val="586273"/>
                </a:solidFill>
                <a:latin typeface="Arial"/>
                <a:ea typeface="Arial"/>
                <a:cs typeface="Arial"/>
              </a:rPr>
              <a:t>Báo cáo dự án Tàng Thư</a:t>
            </a:r>
          </a:p>
        </p:txBody>
      </p:sp>
      <p:sp>
        <p:nvSpPr>
          <p:cNvPr id="5" name="">
            <a:extLst xmlns:a="http://schemas.openxmlformats.org/drawingml/2006/main">
              <a:ext uri="{FF2B5EF4-FFF2-40B4-BE49-F238E27FC236}">
                <a16:creationId xmlns:a16="http://schemas.microsoft.com/office/drawing/2014/main" id="{F06B2A9A-3308-4896-A666-131644F0CF8F}"/>
              </a:ext>
            </a:extLst>
          </p:cNvPr>
          <p:cNvSpPr>
            <a:spLocks xmlns:a="http://schemas.openxmlformats.org/drawingml/2006/main" noGrp="1"/>
          </p:cNvSpPr>
          <p:nvPr/>
        </p:nvSpPr>
        <p:spPr>
          <a:xfrm xmlns:a="http://schemas.openxmlformats.org/drawingml/2006/main">
            <a:off x="838200" y="1476375"/>
            <a:ext cx="4762500" cy="3476625"/>
          </a:xfrm>
          <a:prstGeom xmlns:a="http://schemas.openxmlformats.org/drawingml/2006/main" prst="roundRect">
            <a:avLst>
              <a:gd name="adj" fmla="val 2192"/>
            </a:avLst>
          </a:prstGeom>
          <a:solidFill xmlns:a="http://schemas.openxmlformats.org/drawingml/2006/main">
            <a:srgbClr val="FFFFFF"/>
          </a:solidFill>
          <a:ln xmlns:a="http://schemas.openxmlformats.org/drawingml/2006/main" w="9525">
            <a:solidFill>
              <a:srgbClr val="D7DCE3"/>
            </a:solidFill>
            <a:prstDash val="solid"/>
          </a:ln>
        </p:spPr>
      </p:sp>
      <p:sp>
        <p:nvSpPr>
          <p:cNvPr id="6" name="">
            <a:extLst xmlns:a="http://schemas.openxmlformats.org/drawingml/2006/main">
              <a:ext uri="{FF2B5EF4-FFF2-40B4-BE49-F238E27FC236}">
                <a16:creationId xmlns:a16="http://schemas.microsoft.com/office/drawing/2014/main" id="{12A3C794-F35D-4829-AFD0-FBAD34D607D7}"/>
              </a:ext>
            </a:extLst>
          </p:cNvPr>
          <p:cNvSpPr>
            <a:spLocks xmlns:a="http://schemas.openxmlformats.org/drawingml/2006/main" noGrp="1"/>
          </p:cNvSpPr>
          <p:nvPr/>
        </p:nvSpPr>
        <p:spPr>
          <a:xfrm xmlns:a="http://schemas.openxmlformats.org/drawingml/2006/main">
            <a:off x="6591300" y="1476375"/>
            <a:ext cx="4762500" cy="3476625"/>
          </a:xfrm>
          <a:prstGeom xmlns:a="http://schemas.openxmlformats.org/drawingml/2006/main" prst="roundRect">
            <a:avLst>
              <a:gd name="adj" fmla="val 2192"/>
            </a:avLst>
          </a:prstGeom>
          <a:solidFill xmlns:a="http://schemas.openxmlformats.org/drawingml/2006/main">
            <a:srgbClr val="FFFFFF"/>
          </a:solidFill>
          <a:ln xmlns:a="http://schemas.openxmlformats.org/drawingml/2006/main" w="9525">
            <a:solidFill>
              <a:srgbClr val="D7DCE3"/>
            </a:solidFill>
            <a:prstDash val="solid"/>
          </a:ln>
        </p:spPr>
      </p:sp>
      <p:sp>
        <p:nvSpPr>
          <p:cNvPr id="7" name="">
            <a:extLst xmlns:a="http://schemas.openxmlformats.org/drawingml/2006/main">
              <a:ext uri="{FF2B5EF4-FFF2-40B4-BE49-F238E27FC236}">
                <a16:creationId xmlns:a16="http://schemas.microsoft.com/office/drawing/2014/main" id="{6E55A9A4-FF38-4F97-B301-8FC7C49CCCA5}"/>
              </a:ext>
            </a:extLst>
          </p:cNvPr>
          <p:cNvSpPr>
            <a:spLocks xmlns:a="http://schemas.openxmlformats.org/drawingml/2006/main" noGrp="1"/>
          </p:cNvSpPr>
          <p:nvPr/>
        </p:nvSpPr>
        <p:spPr>
          <a:xfrm xmlns:a="http://schemas.openxmlformats.org/drawingml/2006/main">
            <a:off x="1219200" y="1857375"/>
            <a:ext cx="3810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9167"/>
          </a:bodyPr>
          <a:lstStyle xmlns:a="http://schemas.openxmlformats.org/drawingml/2006/main"/>
          <a:p xmlns:a="http://schemas.openxmlformats.org/drawingml/2006/main">
            <a:pPr>
              <a:defRPr sz="2400" b="1">
                <a:solidFill>
                  <a:srgbClr val="F59F00"/>
                </a:solidFill>
                <a:latin typeface="Arial"/>
                <a:ea typeface="Arial"/>
                <a:cs typeface="Arial"/>
              </a:defRPr>
            </a:pPr>
            <a:r>
              <a:rPr sz="2400" b="1">
                <a:solidFill>
                  <a:srgbClr val="F59F00"/>
                </a:solidFill>
                <a:latin typeface="Arial"/>
                <a:ea typeface="Arial"/>
                <a:cs typeface="Arial"/>
              </a:rPr>
              <a:t>Tính mới</a:t>
            </a:r>
          </a:p>
        </p:txBody>
      </p:sp>
      <p:sp>
        <p:nvSpPr>
          <p:cNvPr id="8" name="">
            <a:extLst xmlns:a="http://schemas.openxmlformats.org/drawingml/2006/main">
              <a:ext uri="{FF2B5EF4-FFF2-40B4-BE49-F238E27FC236}">
                <a16:creationId xmlns:a16="http://schemas.microsoft.com/office/drawing/2014/main" id="{F78BCA8A-81E4-4DC0-B334-C5D25B8BCD28}"/>
              </a:ext>
            </a:extLst>
          </p:cNvPr>
          <p:cNvSpPr>
            <a:spLocks xmlns:a="http://schemas.openxmlformats.org/drawingml/2006/main" noGrp="1"/>
          </p:cNvSpPr>
          <p:nvPr/>
        </p:nvSpPr>
        <p:spPr>
          <a:xfrm xmlns:a="http://schemas.openxmlformats.org/drawingml/2006/main">
            <a:off x="1219200" y="2476500"/>
            <a:ext cx="390525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875" b="0">
                <a:solidFill>
                  <a:srgbClr val="172033"/>
                </a:solidFill>
                <a:latin typeface="Arial"/>
                <a:ea typeface="Arial"/>
                <a:cs typeface="Arial"/>
              </a:defRPr>
            </a:pPr>
            <a:r>
              <a:rPr sz="1875" b="0">
                <a:solidFill>
                  <a:srgbClr val="172033"/>
                </a:solidFill>
                <a:latin typeface="Arial"/>
                <a:ea typeface="Arial"/>
                <a:cs typeface="Arial"/>
              </a:rPr>
              <a:t>Điểm khác biệt nằm ở phạm vi học vụ nội bộ, câu trả lời có nguồn kiểm chứng và nội dung theo đơn vị của người hỏi.</a:t>
            </a:r>
          </a:p>
        </p:txBody>
      </p:sp>
      <p:sp>
        <p:nvSpPr>
          <p:cNvPr id="9" name="">
            <a:extLst xmlns:a="http://schemas.openxmlformats.org/drawingml/2006/main">
              <a:ext uri="{FF2B5EF4-FFF2-40B4-BE49-F238E27FC236}">
                <a16:creationId xmlns:a16="http://schemas.microsoft.com/office/drawing/2014/main" id="{CC01E243-7BBE-4E34-98A5-500B10B0B224}"/>
              </a:ext>
            </a:extLst>
          </p:cNvPr>
          <p:cNvSpPr>
            <a:spLocks xmlns:a="http://schemas.openxmlformats.org/drawingml/2006/main" noGrp="1"/>
          </p:cNvSpPr>
          <p:nvPr/>
        </p:nvSpPr>
        <p:spPr>
          <a:xfrm xmlns:a="http://schemas.openxmlformats.org/drawingml/2006/main">
            <a:off x="6972300" y="1857375"/>
            <a:ext cx="3810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9167"/>
          </a:bodyPr>
          <a:lstStyle xmlns:a="http://schemas.openxmlformats.org/drawingml/2006/main"/>
          <a:p xmlns:a="http://schemas.openxmlformats.org/drawingml/2006/main">
            <a:pPr>
              <a:defRPr sz="2400" b="1">
                <a:solidFill>
                  <a:srgbClr val="087F8C"/>
                </a:solidFill>
                <a:latin typeface="Arial"/>
                <a:ea typeface="Arial"/>
                <a:cs typeface="Arial"/>
              </a:defRPr>
            </a:pPr>
            <a:r>
              <a:rPr sz="2400" b="1">
                <a:solidFill>
                  <a:srgbClr val="087F8C"/>
                </a:solidFill>
                <a:latin typeface="Arial"/>
                <a:ea typeface="Arial"/>
                <a:cs typeface="Arial"/>
              </a:rPr>
              <a:t>Mức tin học hóa</a:t>
            </a:r>
          </a:p>
        </p:txBody>
      </p:sp>
      <p:sp>
        <p:nvSpPr>
          <p:cNvPr id="10" name="">
            <a:extLst xmlns:a="http://schemas.openxmlformats.org/drawingml/2006/main">
              <a:ext uri="{FF2B5EF4-FFF2-40B4-BE49-F238E27FC236}">
                <a16:creationId xmlns:a16="http://schemas.microsoft.com/office/drawing/2014/main" id="{77E99471-5AC6-4232-988C-1EA89CB17F20}"/>
              </a:ext>
            </a:extLst>
          </p:cNvPr>
          <p:cNvSpPr>
            <a:spLocks xmlns:a="http://schemas.openxmlformats.org/drawingml/2006/main" noGrp="1"/>
          </p:cNvSpPr>
          <p:nvPr/>
        </p:nvSpPr>
        <p:spPr>
          <a:xfrm xmlns:a="http://schemas.openxmlformats.org/drawingml/2006/main">
            <a:off x="6972300" y="2476500"/>
            <a:ext cx="390525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875" b="0">
                <a:solidFill>
                  <a:srgbClr val="172033"/>
                </a:solidFill>
                <a:latin typeface="Arial"/>
                <a:ea typeface="Arial"/>
                <a:cs typeface="Arial"/>
              </a:defRPr>
            </a:pPr>
            <a:r>
              <a:rPr sz="1875" b="0">
                <a:solidFill>
                  <a:srgbClr val="172033"/>
                </a:solidFill>
                <a:latin typeface="Arial"/>
                <a:ea typeface="Arial"/>
                <a:cs typeface="Arial"/>
              </a:rPr>
              <a:t>Quy trình hỏi đáp và quản lý tài liệu được chuyển từ trao đổi rời rạc sang một hệ thống tập trung, dễ kiểm tra lại.</a:t>
            </a:r>
          </a:p>
        </p:txBody>
      </p:sp>
      <p:sp>
        <p:nvSpPr>
          <p:cNvPr id="11" name="">
            <a:extLst xmlns:a="http://schemas.openxmlformats.org/drawingml/2006/main">
              <a:ext uri="{FF2B5EF4-FFF2-40B4-BE49-F238E27FC236}">
                <a16:creationId xmlns:a16="http://schemas.microsoft.com/office/drawing/2014/main" id="{030F9049-6B07-48A0-BCDF-B60D5483C47C}"/>
              </a:ext>
            </a:extLst>
          </p:cNvPr>
          <p:cNvSpPr>
            <a:spLocks xmlns:a="http://schemas.openxmlformats.org/drawingml/2006/main" noGrp="1"/>
          </p:cNvSpPr>
          <p:nvPr/>
        </p:nvSpPr>
        <p:spPr>
          <a:xfrm xmlns:a="http://schemas.openxmlformats.org/drawingml/2006/main">
            <a:off x="1314450" y="5476875"/>
            <a:ext cx="952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637"/>
          </a:bodyPr>
          <a:lstStyle xmlns:a="http://schemas.openxmlformats.org/drawingml/2006/main"/>
          <a:p xmlns:a="http://schemas.openxmlformats.org/drawingml/2006/main">
            <a:pPr>
              <a:defRPr sz="1725" b="0">
                <a:solidFill>
                  <a:srgbClr val="586273"/>
                </a:solidFill>
                <a:latin typeface="Arial"/>
                <a:ea typeface="Arial"/>
                <a:cs typeface="Arial"/>
              </a:defRPr>
            </a:pPr>
            <a:r>
              <a:rPr sz="1725" b="0">
                <a:solidFill>
                  <a:srgbClr val="586273"/>
                </a:solidFill>
                <a:latin typeface="Arial"/>
                <a:ea typeface="Arial"/>
                <a:cs typeface="Arial"/>
              </a:rPr>
              <a:t>Hai tiêu chí này giúp đề tài khác với ứng dụng hỏi đáp chung và gắn chặt hơn với nghiệp vụ học vụ của trường.</a:t>
            </a:r>
          </a:p>
        </p:txBody>
      </p:sp>
    </p:spTree>
    <p:extLst>
      <p:ext uri="{BB962C8B-B14F-4D97-AF65-F5344CB8AC3E}">
        <p14:creationId xmlns:p14="http://schemas.microsoft.com/office/powerpoint/2010/main" val="1398340604"/>
      </p:ext>
    </p:extLst>
  </p:cSld>
</p:sld>
</file>

<file path=ppt/slides/slide10.xml><?xml version="1.0" encoding="utf-8"?>
<p:sld xmlns:p="http://schemas.openxmlformats.org/presentationml/2006/main">
  <p:cSld>
    <p:bg>
      <p:bgPr>
        <a:solidFill xmlns:a="http://schemas.openxmlformats.org/drawingml/2006/main">
          <a:srgbClr val="F7F8F5"/>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9ADE62FA-4882-468C-A671-6C8B9A118182}"/>
              </a:ext>
            </a:extLst>
          </p:cNvPr>
          <p:cNvSpPr>
            <a:spLocks xmlns:a="http://schemas.openxmlformats.org/drawingml/2006/main" noGrp="1"/>
          </p:cNvSpPr>
          <p:nvPr/>
        </p:nvSpPr>
        <p:spPr>
          <a:xfrm xmlns:a="http://schemas.openxmlformats.org/drawingml/2006/main">
            <a:off x="0" y="0"/>
            <a:ext cx="12192000" cy="171450"/>
          </a:xfrm>
          <a:prstGeom xmlns:a="http://schemas.openxmlformats.org/drawingml/2006/main" prst="rect">
            <a:avLst/>
          </a:prstGeom>
          <a:solidFill xmlns:a="http://schemas.openxmlformats.org/drawingml/2006/main">
            <a:srgbClr val="087F8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D0ABB18-CCFE-4A21-B85A-4B85E562A7D4}"/>
              </a:ext>
            </a:extLst>
          </p:cNvPr>
          <p:cNvSpPr>
            <a:spLocks xmlns:a="http://schemas.openxmlformats.org/drawingml/2006/main" noGrp="1"/>
          </p:cNvSpPr>
          <p:nvPr/>
        </p:nvSpPr>
        <p:spPr>
          <a:xfrm xmlns:a="http://schemas.openxmlformats.org/drawingml/2006/main">
            <a:off x="685800" y="49530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700" b="1">
                <a:solidFill>
                  <a:srgbClr val="102A43"/>
                </a:solidFill>
                <a:latin typeface="Arial"/>
                <a:ea typeface="Arial"/>
                <a:cs typeface="Arial"/>
              </a:defRPr>
            </a:pPr>
            <a:r>
              <a:rPr sz="2700" b="1">
                <a:solidFill>
                  <a:srgbClr val="102A43"/>
                </a:solidFill>
                <a:latin typeface="Arial"/>
                <a:ea typeface="Arial"/>
                <a:cs typeface="Arial"/>
              </a:rPr>
              <a:t>Kết luận</a:t>
            </a:r>
          </a:p>
        </p:txBody>
      </p:sp>
      <p:sp>
        <p:nvSpPr>
          <p:cNvPr id="3" name="">
            <a:extLst xmlns:a="http://schemas.openxmlformats.org/drawingml/2006/main">
              <a:ext uri="{FF2B5EF4-FFF2-40B4-BE49-F238E27FC236}">
                <a16:creationId xmlns:a16="http://schemas.microsoft.com/office/drawing/2014/main" id="{839EC43F-CF69-4FD5-A45E-0C7280D82295}"/>
              </a:ext>
            </a:extLst>
          </p:cNvPr>
          <p:cNvSpPr>
            <a:spLocks xmlns:a="http://schemas.openxmlformats.org/drawingml/2006/main" noGrp="1"/>
          </p:cNvSpPr>
          <p:nvPr/>
        </p:nvSpPr>
        <p:spPr>
          <a:xfrm xmlns:a="http://schemas.openxmlformats.org/drawingml/2006/main">
            <a:off x="685800" y="6305550"/>
            <a:ext cx="400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714"/>
          </a:bodyPr>
          <a:lstStyle xmlns:a="http://schemas.openxmlformats.org/drawingml/2006/main"/>
          <a:p xmlns:a="http://schemas.openxmlformats.org/drawingml/2006/main">
            <a:pPr>
              <a:defRPr sz="1050" b="0">
                <a:solidFill>
                  <a:srgbClr val="586273"/>
                </a:solidFill>
                <a:latin typeface="Arial"/>
                <a:ea typeface="Arial"/>
                <a:cs typeface="Arial"/>
              </a:defRPr>
            </a:pPr>
            <a:r>
              <a:rPr sz="1050" b="0">
                <a:solidFill>
                  <a:srgbClr val="586273"/>
                </a:solidFill>
                <a:latin typeface="Arial"/>
                <a:ea typeface="Arial"/>
                <a:cs typeface="Arial"/>
              </a:rPr>
              <a:t>Báo cáo dự án Tàng Thư</a:t>
            </a:r>
          </a:p>
        </p:txBody>
      </p:sp>
      <p:sp>
        <p:nvSpPr>
          <p:cNvPr id="4" name="">
            <a:extLst xmlns:a="http://schemas.openxmlformats.org/drawingml/2006/main">
              <a:ext uri="{FF2B5EF4-FFF2-40B4-BE49-F238E27FC236}">
                <a16:creationId xmlns:a16="http://schemas.microsoft.com/office/drawing/2014/main" id="{731E4015-B253-4AFE-9BB4-DE8AB459E5E5}"/>
              </a:ext>
            </a:extLst>
          </p:cNvPr>
          <p:cNvSpPr>
            <a:spLocks xmlns:a="http://schemas.openxmlformats.org/drawingml/2006/main" noGrp="1"/>
          </p:cNvSpPr>
          <p:nvPr/>
        </p:nvSpPr>
        <p:spPr>
          <a:xfrm xmlns:a="http://schemas.openxmlformats.org/drawingml/2006/main">
            <a:off x="952500" y="1409700"/>
            <a:ext cx="10287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8990"/>
          </a:bodyPr>
          <a:lstStyle xmlns:a="http://schemas.openxmlformats.org/drawingml/2006/main"/>
          <a:p xmlns:a="http://schemas.openxmlformats.org/drawingml/2006/main">
            <a:pPr>
              <a:defRPr sz="2475" b="1">
                <a:solidFill>
                  <a:srgbClr val="102A43"/>
                </a:solidFill>
                <a:latin typeface="Arial"/>
                <a:ea typeface="Arial"/>
                <a:cs typeface="Arial"/>
              </a:defRPr>
            </a:pPr>
            <a:r>
              <a:rPr sz="2475" b="1">
                <a:solidFill>
                  <a:srgbClr val="102A43"/>
                </a:solidFill>
                <a:latin typeface="Arial"/>
                <a:ea typeface="Arial"/>
                <a:cs typeface="Arial"/>
              </a:rPr>
              <a:t>Tàng Thư là đề tài có phạm vi rõ, đầu ra kiểm chứng được và phù hợp để báo cáo như một dự án ứng dụng trong môi trường học vụ.</a:t>
            </a:r>
          </a:p>
        </p:txBody>
      </p:sp>
      <p:sp>
        <p:nvSpPr>
          <p:cNvPr id="5" name="">
            <a:extLst xmlns:a="http://schemas.openxmlformats.org/drawingml/2006/main">
              <a:ext uri="{FF2B5EF4-FFF2-40B4-BE49-F238E27FC236}">
                <a16:creationId xmlns:a16="http://schemas.microsoft.com/office/drawing/2014/main" id="{10B6C852-378D-4192-8A66-E2093C412D80}"/>
              </a:ext>
            </a:extLst>
          </p:cNvPr>
          <p:cNvSpPr>
            <a:spLocks xmlns:a="http://schemas.openxmlformats.org/drawingml/2006/main" noGrp="1"/>
          </p:cNvSpPr>
          <p:nvPr/>
        </p:nvSpPr>
        <p:spPr>
          <a:xfrm xmlns:a="http://schemas.openxmlformats.org/drawingml/2006/main">
            <a:off x="1238250" y="3009900"/>
            <a:ext cx="95250" cy="95250"/>
          </a:xfrm>
          <a:prstGeom xmlns:a="http://schemas.openxmlformats.org/drawingml/2006/main" prst="roundRect">
            <a:avLst>
              <a:gd name="adj" fmla="val 50000"/>
            </a:avLst>
          </a:prstGeom>
          <a:solidFill xmlns:a="http://schemas.openxmlformats.org/drawingml/2006/main">
            <a:srgbClr val="087F8C"/>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773E1653-666D-4E21-B84B-CC98ACC6D30B}"/>
              </a:ext>
            </a:extLst>
          </p:cNvPr>
          <p:cNvSpPr>
            <a:spLocks xmlns:a="http://schemas.openxmlformats.org/drawingml/2006/main" noGrp="1"/>
          </p:cNvSpPr>
          <p:nvPr/>
        </p:nvSpPr>
        <p:spPr>
          <a:xfrm xmlns:a="http://schemas.openxmlformats.org/drawingml/2006/main">
            <a:off x="1485900" y="2933700"/>
            <a:ext cx="9144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875" b="0">
                <a:solidFill>
                  <a:srgbClr val="172033"/>
                </a:solidFill>
                <a:latin typeface="Arial"/>
                <a:ea typeface="Arial"/>
                <a:cs typeface="Arial"/>
              </a:defRPr>
            </a:pPr>
            <a:r>
              <a:rPr sz="1875" b="0">
                <a:solidFill>
                  <a:srgbClr val="172033"/>
                </a:solidFill>
                <a:latin typeface="Arial"/>
                <a:ea typeface="Arial"/>
                <a:cs typeface="Arial"/>
              </a:rPr>
              <a:t>Bài toán xuất phát từ nhu cầu thật của sinh viên và cán bộ quản lý tài liệu</a:t>
            </a:r>
          </a:p>
        </p:txBody>
      </p:sp>
      <p:sp>
        <p:nvSpPr>
          <p:cNvPr id="7" name="">
            <a:extLst xmlns:a="http://schemas.openxmlformats.org/drawingml/2006/main">
              <a:ext uri="{FF2B5EF4-FFF2-40B4-BE49-F238E27FC236}">
                <a16:creationId xmlns:a16="http://schemas.microsoft.com/office/drawing/2014/main" id="{364EA286-84B1-4F97-A210-C31D7F522576}"/>
              </a:ext>
            </a:extLst>
          </p:cNvPr>
          <p:cNvSpPr>
            <a:spLocks xmlns:a="http://schemas.openxmlformats.org/drawingml/2006/main" noGrp="1"/>
          </p:cNvSpPr>
          <p:nvPr/>
        </p:nvSpPr>
        <p:spPr>
          <a:xfrm xmlns:a="http://schemas.openxmlformats.org/drawingml/2006/main">
            <a:off x="1238250" y="3600450"/>
            <a:ext cx="95250" cy="95250"/>
          </a:xfrm>
          <a:prstGeom xmlns:a="http://schemas.openxmlformats.org/drawingml/2006/main" prst="roundRect">
            <a:avLst>
              <a:gd name="adj" fmla="val 50000"/>
            </a:avLst>
          </a:prstGeom>
          <a:solidFill xmlns:a="http://schemas.openxmlformats.org/drawingml/2006/main">
            <a:srgbClr val="087F8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059AFF7A-5233-4C97-BACE-6C1AC19D0AC0}"/>
              </a:ext>
            </a:extLst>
          </p:cNvPr>
          <p:cNvSpPr>
            <a:spLocks xmlns:a="http://schemas.openxmlformats.org/drawingml/2006/main" noGrp="1"/>
          </p:cNvSpPr>
          <p:nvPr/>
        </p:nvSpPr>
        <p:spPr>
          <a:xfrm xmlns:a="http://schemas.openxmlformats.org/drawingml/2006/main">
            <a:off x="1485900" y="3524250"/>
            <a:ext cx="9144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875" b="0">
                <a:solidFill>
                  <a:srgbClr val="172033"/>
                </a:solidFill>
                <a:latin typeface="Arial"/>
                <a:ea typeface="Arial"/>
                <a:cs typeface="Arial"/>
              </a:defRPr>
            </a:pPr>
            <a:r>
              <a:rPr sz="1875" b="0">
                <a:solidFill>
                  <a:srgbClr val="172033"/>
                </a:solidFill>
                <a:latin typeface="Arial"/>
                <a:ea typeface="Arial"/>
                <a:cs typeface="Arial"/>
              </a:rPr>
              <a:t>Sản phẩm tập trung vào hỏi đáp học vụ có nguồn trích dẫn</a:t>
            </a:r>
          </a:p>
        </p:txBody>
      </p:sp>
      <p:sp>
        <p:nvSpPr>
          <p:cNvPr id="9" name="">
            <a:extLst xmlns:a="http://schemas.openxmlformats.org/drawingml/2006/main">
              <a:ext uri="{FF2B5EF4-FFF2-40B4-BE49-F238E27FC236}">
                <a16:creationId xmlns:a16="http://schemas.microsoft.com/office/drawing/2014/main" id="{1DA80AEF-7D97-4C0D-A5FF-7436644A67BC}"/>
              </a:ext>
            </a:extLst>
          </p:cNvPr>
          <p:cNvSpPr>
            <a:spLocks xmlns:a="http://schemas.openxmlformats.org/drawingml/2006/main" noGrp="1"/>
          </p:cNvSpPr>
          <p:nvPr/>
        </p:nvSpPr>
        <p:spPr>
          <a:xfrm xmlns:a="http://schemas.openxmlformats.org/drawingml/2006/main">
            <a:off x="1238250" y="4191000"/>
            <a:ext cx="95250" cy="95250"/>
          </a:xfrm>
          <a:prstGeom xmlns:a="http://schemas.openxmlformats.org/drawingml/2006/main" prst="roundRect">
            <a:avLst>
              <a:gd name="adj" fmla="val 50000"/>
            </a:avLst>
          </a:prstGeom>
          <a:solidFill xmlns:a="http://schemas.openxmlformats.org/drawingml/2006/main">
            <a:srgbClr val="087F8C"/>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B6F0D4ED-B5F8-46C4-9655-83FCA7DDB69E}"/>
              </a:ext>
            </a:extLst>
          </p:cNvPr>
          <p:cNvSpPr>
            <a:spLocks xmlns:a="http://schemas.openxmlformats.org/drawingml/2006/main" noGrp="1"/>
          </p:cNvSpPr>
          <p:nvPr/>
        </p:nvSpPr>
        <p:spPr>
          <a:xfrm xmlns:a="http://schemas.openxmlformats.org/drawingml/2006/main">
            <a:off x="1485900" y="4114800"/>
            <a:ext cx="9144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875" b="0">
                <a:solidFill>
                  <a:srgbClr val="172033"/>
                </a:solidFill>
                <a:latin typeface="Arial"/>
                <a:ea typeface="Arial"/>
                <a:cs typeface="Arial"/>
              </a:defRPr>
            </a:pPr>
            <a:r>
              <a:rPr sz="1875" b="0">
                <a:solidFill>
                  <a:srgbClr val="172033"/>
                </a:solidFill>
                <a:latin typeface="Arial"/>
                <a:ea typeface="Arial"/>
                <a:cs typeface="Arial"/>
              </a:rPr>
              <a:t>Ranh giới đề tài tránh dữ liệu cá nhân và quyết định hành chính chính thức</a:t>
            </a:r>
          </a:p>
        </p:txBody>
      </p:sp>
      <p:sp>
        <p:nvSpPr>
          <p:cNvPr id="11" name="">
            <a:extLst xmlns:a="http://schemas.openxmlformats.org/drawingml/2006/main">
              <a:ext uri="{FF2B5EF4-FFF2-40B4-BE49-F238E27FC236}">
                <a16:creationId xmlns:a16="http://schemas.microsoft.com/office/drawing/2014/main" id="{A178969F-ED0A-488D-B12F-38A3FADDE1A0}"/>
              </a:ext>
            </a:extLst>
          </p:cNvPr>
          <p:cNvSpPr>
            <a:spLocks xmlns:a="http://schemas.openxmlformats.org/drawingml/2006/main" noGrp="1"/>
          </p:cNvSpPr>
          <p:nvPr/>
        </p:nvSpPr>
        <p:spPr>
          <a:xfrm xmlns:a="http://schemas.openxmlformats.org/drawingml/2006/main">
            <a:off x="1238250" y="4781550"/>
            <a:ext cx="95250" cy="95250"/>
          </a:xfrm>
          <a:prstGeom xmlns:a="http://schemas.openxmlformats.org/drawingml/2006/main" prst="roundRect">
            <a:avLst>
              <a:gd name="adj" fmla="val 50000"/>
            </a:avLst>
          </a:prstGeom>
          <a:solidFill xmlns:a="http://schemas.openxmlformats.org/drawingml/2006/main">
            <a:srgbClr val="087F8C"/>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42D1717E-A97F-4C69-AFC2-B4E17B329385}"/>
              </a:ext>
            </a:extLst>
          </p:cNvPr>
          <p:cNvSpPr>
            <a:spLocks xmlns:a="http://schemas.openxmlformats.org/drawingml/2006/main" noGrp="1"/>
          </p:cNvSpPr>
          <p:nvPr/>
        </p:nvSpPr>
        <p:spPr>
          <a:xfrm xmlns:a="http://schemas.openxmlformats.org/drawingml/2006/main">
            <a:off x="1485900" y="4705350"/>
            <a:ext cx="9144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875" b="0">
                <a:solidFill>
                  <a:srgbClr val="172033"/>
                </a:solidFill>
                <a:latin typeface="Arial"/>
                <a:ea typeface="Arial"/>
                <a:cs typeface="Arial"/>
              </a:defRPr>
            </a:pPr>
            <a:r>
              <a:rPr sz="1875" b="0">
                <a:solidFill>
                  <a:srgbClr val="172033"/>
                </a:solidFill>
                <a:latin typeface="Arial"/>
                <a:ea typeface="Arial"/>
                <a:cs typeface="Arial"/>
              </a:rPr>
              <a:t>Các tiêu chí rõ ràng, khả thi, mới và tin học hóa đều có cách chứng minh</a:t>
            </a:r>
          </a:p>
        </p:txBody>
      </p:sp>
      <p:sp>
        <p:nvSpPr>
          <p:cNvPr id="13" name="">
            <a:extLst xmlns:a="http://schemas.openxmlformats.org/drawingml/2006/main">
              <a:ext uri="{FF2B5EF4-FFF2-40B4-BE49-F238E27FC236}">
                <a16:creationId xmlns:a16="http://schemas.microsoft.com/office/drawing/2014/main" id="{CD389398-C830-4AF5-8EC0-F48AF2B45696}"/>
              </a:ext>
            </a:extLst>
          </p:cNvPr>
          <p:cNvSpPr>
            <a:spLocks xmlns:a="http://schemas.openxmlformats.org/drawingml/2006/main" noGrp="1"/>
          </p:cNvSpPr>
          <p:nvPr/>
        </p:nvSpPr>
        <p:spPr>
          <a:xfrm xmlns:a="http://schemas.openxmlformats.org/drawingml/2006/main">
            <a:off x="1238250" y="5657850"/>
            <a:ext cx="8858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7361"/>
          </a:bodyPr>
          <a:lstStyle xmlns:a="http://schemas.openxmlformats.org/drawingml/2006/main"/>
          <a:p xmlns:a="http://schemas.openxmlformats.org/drawingml/2006/main">
            <a:pPr>
              <a:defRPr sz="1650" b="0">
                <a:solidFill>
                  <a:srgbClr val="586273"/>
                </a:solidFill>
                <a:latin typeface="Arial"/>
                <a:ea typeface="Arial"/>
                <a:cs typeface="Arial"/>
              </a:defRPr>
            </a:pPr>
            <a:r>
              <a:rPr sz="1650" b="0">
                <a:solidFill>
                  <a:srgbClr val="586273"/>
                </a:solidFill>
                <a:latin typeface="Arial"/>
                <a:ea typeface="Arial"/>
                <a:cs typeface="Arial"/>
              </a:rPr>
              <a:t>Nội dung công nghệ nền tảng có thể bổ sung ở phiên bản sau khi cần trình bày thiết kế kỹ thuật.</a:t>
            </a:r>
          </a:p>
        </p:txBody>
      </p:sp>
    </p:spTree>
    <p:extLst>
      <p:ext uri="{BB962C8B-B14F-4D97-AF65-F5344CB8AC3E}">
        <p14:creationId xmlns:p14="http://schemas.microsoft.com/office/powerpoint/2010/main" val="134834067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2026-09-04T02:16:32.9730000Z</dcterms:created>
  <dcterms:modified xsi:type="dcterms:W3CDTF">2026-09-04T02:16:32.9730000Z</dcterms:modified>
</coreProperties>
</file>